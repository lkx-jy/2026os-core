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67" r:id="rId5"/>
    <p:sldId id="271" r:id="rId6"/>
    <p:sldId id="272" r:id="rId7"/>
    <p:sldId id="258" r:id="rId8"/>
    <p:sldId id="270" r:id="rId9"/>
    <p:sldId id="277" r:id="rId10"/>
    <p:sldId id="278" r:id="rId11"/>
    <p:sldId id="259" r:id="rId12"/>
    <p:sldId id="269" r:id="rId13"/>
    <p:sldId id="274" r:id="rId14"/>
    <p:sldId id="280" r:id="rId15"/>
    <p:sldId id="260" r:id="rId16"/>
    <p:sldId id="261" r:id="rId17"/>
    <p:sldId id="262" r:id="rId18"/>
    <p:sldId id="263" r:id="rId19"/>
    <p:sldId id="264" r:id="rId20"/>
    <p:sldId id="279" r:id="rId21"/>
    <p:sldId id="281" r:id="rId22"/>
    <p:sldId id="282" r:id="rId23"/>
    <p:sldId id="283" r:id="rId24"/>
    <p:sldId id="265" r:id="rId25"/>
    <p:sldId id="284" r:id="rId26"/>
    <p:sldId id="285" r:id="rId27"/>
    <p:sldId id="266" r:id="rId2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6" userDrawn="1">
          <p15:clr>
            <a:srgbClr val="A4A3A4"/>
          </p15:clr>
        </p15:guide>
        <p15:guide id="2" pos="28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46"/>
        <p:guide pos="282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Rectangle 12"/>
          <p:cNvSpPr/>
          <p:nvPr/>
        </p:nvSpPr>
        <p:spPr>
          <a:xfrm>
            <a:off x="8686800" y="1645920"/>
            <a:ext cx="2743200" cy="1371600"/>
          </a:xfrm>
          <a:prstGeom prst="rect">
            <a:avLst/>
          </a:prstGeom>
          <a:solidFill>
            <a:srgbClr val="1A2E4A"/>
          </a:solidFill>
          <a:ln w="12700">
            <a:solidFill>
              <a:srgbClr val="E87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210312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DC3535"/>
                </a:solidFill>
                <a:latin typeface="微软雅黑"/>
                <a:ea typeface="微软雅黑"/>
              </a:rPr>
              <a:t>💥 宕机日志</a:t>
            </a:r>
            <a:endParaRPr sz="1600" b="1">
              <a:solidFill>
                <a:srgbClr val="DC3535"/>
              </a:solidFill>
              <a:latin typeface="微软雅黑"/>
              <a:ea typeface="微软雅黑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914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endParaRPr sz="1000" b="0">
              <a:solidFill>
                <a:srgbClr val="1A202C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521440" y="1371600"/>
            <a:ext cx="73152" cy="41148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-232410" y="274320"/>
            <a:ext cx="22860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7200" b="0">
                <a:solidFill>
                  <a:srgbClr val="FFFFFF"/>
                </a:solidFill>
                <a:latin typeface="微软雅黑"/>
                <a:ea typeface="微软雅黑"/>
              </a:rPr>
              <a:t>🐧</a:t>
            </a:r>
            <a:endParaRPr sz="7200" b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37260" y="731520"/>
            <a:ext cx="10492105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lang="en-US" altLang="zh-CN" sz="4000">
                <a:sym typeface="+mn-ea"/>
              </a:rPr>
              <a:t>Linux </a:t>
            </a:r>
            <a:r>
              <a:rPr lang="zh-CN" altLang="en-US" sz="4000">
                <a:sym typeface="+mn-ea"/>
              </a:rPr>
              <a:t>内核宕机自动诊断与补丁匹配系统</a:t>
            </a:r>
            <a:endParaRPr lang="zh-CN" altLang="en-US" sz="4000"/>
          </a:p>
          <a:p>
            <a:pPr algn="l">
              <a:lnSpc>
                <a:spcPct val="120000"/>
              </a:lnSpc>
            </a:pPr>
            <a:r>
              <a:rPr lang="en-US" altLang="zh-CN" sz="4000">
                <a:sym typeface="+mn-ea"/>
              </a:rPr>
              <a:t>Linux Kernel Crash Upstream Patch Search</a:t>
            </a:r>
            <a:endParaRPr lang="en-US" altLang="zh-CN" sz="4000"/>
          </a:p>
          <a:p>
            <a:pPr algn="l">
              <a:lnSpc>
                <a:spcPct val="120000"/>
              </a:lnSpc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内核宕机自动诊断与补丁匹配系统</a:t>
            </a:r>
            <a:endParaRPr sz="40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346960"/>
            <a:ext cx="10058400" cy="1036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E8792B"/>
                </a:solidFill>
                <a:latin typeface="微软雅黑"/>
                <a:ea typeface="微软雅黑"/>
              </a:rPr>
              <a:t>基于 RAG + 内核领域知识 + LLM 的自动化补丁匹配方案</a:t>
            </a:r>
            <a:endParaRPr sz="2000" b="0">
              <a:solidFill>
                <a:srgbClr val="E8792B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88720" y="2838450"/>
            <a:ext cx="9601200" cy="100203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A0AEC0"/>
                </a:solidFill>
                <a:latin typeface="微软雅黑"/>
                <a:ea typeface="微软雅黑"/>
              </a:rPr>
              <a:t>核心突破：解决「百万级 Commit 中快速精准匹配宕机修复补丁」难题</a:t>
            </a:r>
            <a:endParaRPr sz="1400" b="0">
              <a:solidFill>
                <a:srgbClr val="A0AEC0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87450" y="5487035"/>
            <a:ext cx="6936105" cy="7283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b="1">
                <a:solidFill>
                  <a:schemeClr val="accent6">
                    <a:lumMod val="60000"/>
                    <a:lumOff val="40000"/>
                  </a:schemeClr>
                </a:solidFill>
                <a:latin typeface="微软雅黑"/>
                <a:ea typeface="微软雅黑"/>
              </a:rPr>
              <a:t>项目团队：</a:t>
            </a:r>
            <a:r>
              <a:rPr lang="en-US" altLang="zh-CN" b="1">
                <a:solidFill>
                  <a:schemeClr val="accent6">
                    <a:lumMod val="60000"/>
                    <a:lumOff val="40000"/>
                  </a:schemeClr>
                </a:solidFill>
                <a:latin typeface="微软雅黑"/>
                <a:ea typeface="微软雅黑"/>
              </a:rPr>
              <a:t>ss_-tpnl/</a:t>
            </a:r>
            <a:r>
              <a:rPr lang="en-US" altLang="zh-CN" b="1">
                <a:solidFill>
                  <a:schemeClr val="accent6">
                    <a:lumMod val="60000"/>
                    <a:lumOff val="40000"/>
                  </a:schemeClr>
                </a:solidFill>
                <a:latin typeface="微软雅黑"/>
                <a:ea typeface="微软雅黑"/>
                <a:sym typeface="+mn-ea"/>
              </a:rPr>
              <a:t>project3136859-388917</a:t>
            </a:r>
            <a:r>
              <a:rPr lang="en-US" altLang="zh-CN" b="1">
                <a:solidFill>
                  <a:schemeClr val="accent6">
                    <a:lumMod val="60000"/>
                    <a:lumOff val="40000"/>
                  </a:schemeClr>
                </a:solidFill>
                <a:latin typeface="微软雅黑"/>
                <a:ea typeface="微软雅黑"/>
              </a:rPr>
              <a:t>    </a:t>
            </a:r>
            <a:r>
              <a:rPr b="1">
                <a:solidFill>
                  <a:schemeClr val="accent6">
                    <a:lumMod val="60000"/>
                    <a:lumOff val="40000"/>
                  </a:schemeClr>
                </a:solidFill>
                <a:latin typeface="微软雅黑"/>
                <a:ea typeface="微软雅黑"/>
              </a:rPr>
              <a:t>|    2026年6月</a:t>
            </a:r>
            <a:r>
              <a:rPr lang="en-US" b="1">
                <a:solidFill>
                  <a:schemeClr val="accent6">
                    <a:lumMod val="60000"/>
                    <a:lumOff val="40000"/>
                  </a:schemeClr>
                </a:solidFill>
                <a:latin typeface="微软雅黑"/>
                <a:ea typeface="微软雅黑"/>
              </a:rPr>
              <a:t>30</a:t>
            </a:r>
            <a:r>
              <a:rPr lang="zh-CN" altLang="en-US" b="1">
                <a:solidFill>
                  <a:schemeClr val="accent6">
                    <a:lumMod val="60000"/>
                    <a:lumOff val="40000"/>
                  </a:schemeClr>
                </a:solidFill>
                <a:latin typeface="微软雅黑"/>
                <a:ea typeface="微软雅黑"/>
              </a:rPr>
              <a:t>日</a:t>
            </a:r>
            <a:endParaRPr lang="zh-CN" altLang="en-US" b="1">
              <a:solidFill>
                <a:schemeClr val="accent6">
                  <a:lumMod val="60000"/>
                  <a:lumOff val="40000"/>
                </a:schemeClr>
              </a:solidFill>
              <a:latin typeface="微软雅黑"/>
              <a:ea typeface="微软雅黑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endParaRPr lang="zh-CN" altLang="en-US" b="1">
              <a:solidFill>
                <a:schemeClr val="accent6">
                  <a:lumMod val="60000"/>
                  <a:lumOff val="40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800" y="246888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4A5568"/>
                </a:solidFill>
                <a:latin typeface="微软雅黑"/>
                <a:ea typeface="微软雅黑"/>
              </a:rPr>
              <a:t>dmesg / vmcore / 问题描述</a:t>
            </a:r>
            <a:endParaRPr sz="10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784080" y="3200400"/>
            <a:ext cx="548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800" b="0">
                <a:solidFill>
                  <a:srgbClr val="E8792B"/>
                </a:solidFill>
                <a:latin typeface="微软雅黑"/>
                <a:ea typeface="微软雅黑"/>
              </a:rPr>
              <a:t>⬇</a:t>
            </a:r>
            <a:endParaRPr sz="2800" b="0">
              <a:solidFill>
                <a:srgbClr val="E8792B"/>
              </a:solidFill>
              <a:latin typeface="微软雅黑"/>
              <a:ea typeface="微软雅黑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686800" y="3840480"/>
            <a:ext cx="2743200" cy="1371600"/>
          </a:xfrm>
          <a:prstGeom prst="rect">
            <a:avLst/>
          </a:prstGeom>
          <a:solidFill>
            <a:srgbClr val="1A2E4A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402336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2E8B57"/>
                </a:solidFill>
                <a:latin typeface="微软雅黑"/>
                <a:ea typeface="微软雅黑"/>
              </a:rPr>
              <a:t>🔧 RAG 智能诊断引擎</a:t>
            </a:r>
            <a:endParaRPr sz="1600" b="1">
              <a:solidFill>
                <a:srgbClr val="2E8B57"/>
              </a:solidFill>
              <a:latin typeface="微软雅黑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86800" y="448056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4A5568"/>
                </a:solidFill>
                <a:latin typeface="微软雅黑"/>
                <a:ea typeface="微软雅黑"/>
              </a:rPr>
              <a:t>根因分析 → 向量检索 → 补丁匹配</a:t>
            </a:r>
            <a:endParaRPr sz="10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784080" y="5349240"/>
            <a:ext cx="548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800" b="0">
                <a:solidFill>
                  <a:srgbClr val="2E8B57"/>
                </a:solidFill>
                <a:latin typeface="微软雅黑"/>
                <a:ea typeface="微软雅黑"/>
              </a:rPr>
              <a:t>⬇</a:t>
            </a:r>
            <a:endParaRPr sz="2800" b="0">
              <a:solidFill>
                <a:srgbClr val="2E8B57"/>
              </a:solidFill>
              <a:latin typeface="微软雅黑"/>
              <a:ea typeface="微软雅黑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686800" y="5943600"/>
            <a:ext cx="2743200" cy="731520"/>
          </a:xfrm>
          <a:prstGeom prst="rect">
            <a:avLst/>
          </a:prstGeom>
          <a:solidFill>
            <a:srgbClr val="1A2E4A"/>
          </a:solidFill>
          <a:ln w="1270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5989320"/>
            <a:ext cx="2742565" cy="563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D69E2E"/>
                </a:solidFill>
                <a:latin typeface="微软雅黑"/>
                <a:ea typeface="微软雅黑"/>
              </a:rPr>
              <a:t> Top-N 精准补丁推荐</a:t>
            </a:r>
            <a:endParaRPr sz="1400" b="1">
              <a:solidFill>
                <a:srgbClr val="D69E2E"/>
              </a:solidFill>
              <a:latin typeface="微软雅黑"/>
              <a:ea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1 / </a:t>
            </a:r>
            <a:r>
              <a:rPr lang="en-US" sz="900" b="0">
                <a:solidFill>
                  <a:srgbClr val="4A5568"/>
                </a:solidFill>
                <a:latin typeface="微软雅黑"/>
                <a:ea typeface="微软雅黑"/>
              </a:rPr>
              <a:t>26</a:t>
            </a:r>
            <a:endParaRPr lang="en-US"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7" grpId="0" animBg="1"/>
      <p:bldP spid="17" grpId="1" animBg="1"/>
      <p:bldP spid="21" grpId="0" animBg="1"/>
      <p:bldP spid="21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4572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lang="zh-CN" sz="3600" b="1">
                <a:solidFill>
                  <a:srgbClr val="0F1B2D"/>
                </a:solidFill>
                <a:latin typeface="微软雅黑"/>
                <a:ea typeface="微软雅黑"/>
              </a:rPr>
              <a:t>目录</a:t>
            </a:r>
            <a:endParaRPr lang="zh-CN" sz="36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2743200" cy="381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645920"/>
            <a:ext cx="411480" cy="4114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1</a:t>
            </a:r>
            <a:endParaRPr sz="14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37360" y="169164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lang="zh-CN" altLang="en-US" sz="1800" b="1">
                <a:solidFill>
                  <a:srgbClr val="0F1B2D"/>
                </a:solidFill>
                <a:latin typeface="微软雅黑"/>
                <a:ea typeface="微软雅黑"/>
              </a:rPr>
              <a:t>团队介绍与分工</a:t>
            </a:r>
            <a:endParaRPr lang="zh-CN" altLang="en-US" sz="18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737360" y="2148840"/>
            <a:ext cx="7772400" cy="127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2331720"/>
            <a:ext cx="411480" cy="4114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2</a:t>
            </a:r>
            <a:endParaRPr sz="14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37360" y="237744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lang="zh-CN" altLang="en-US" sz="1800" b="1">
                <a:solidFill>
                  <a:srgbClr val="0F1B2D"/>
                </a:solidFill>
                <a:latin typeface="微软雅黑"/>
                <a:ea typeface="微软雅黑"/>
              </a:rPr>
              <a:t>项目开发时间线与任务推进</a:t>
            </a:r>
            <a:endParaRPr lang="zh-CN" altLang="en-US" sz="18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737360" y="2834640"/>
            <a:ext cx="7772400" cy="127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3017520"/>
            <a:ext cx="411480" cy="4114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3</a:t>
            </a:r>
            <a:endParaRPr sz="14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37360" y="306324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lang="zh-CN" altLang="en-US" sz="1800" b="1">
                <a:solidFill>
                  <a:srgbClr val="0F1B2D"/>
                </a:solidFill>
                <a:latin typeface="微软雅黑"/>
                <a:ea typeface="微软雅黑"/>
              </a:rPr>
              <a:t>核心模块开发进展</a:t>
            </a:r>
            <a:endParaRPr lang="zh-CN" altLang="en-US" sz="18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737360" y="3520440"/>
            <a:ext cx="7772400" cy="127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7280" y="3703320"/>
            <a:ext cx="411480" cy="4114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4</a:t>
            </a:r>
            <a:endParaRPr sz="14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37360" y="374904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lang="zh-CN" altLang="en-US" sz="1800" b="1">
                <a:solidFill>
                  <a:srgbClr val="0F1B2D"/>
                </a:solidFill>
                <a:latin typeface="微软雅黑"/>
                <a:ea typeface="微软雅黑"/>
              </a:rPr>
              <a:t>关键技术成果</a:t>
            </a:r>
            <a:endParaRPr lang="zh-CN" altLang="en-US" sz="18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737360" y="4206240"/>
            <a:ext cx="7772400" cy="127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7280" y="4389120"/>
            <a:ext cx="411480" cy="4114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5</a:t>
            </a:r>
            <a:endParaRPr sz="14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37360" y="443484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lang="en-US" altLang="zh-CN" sz="1800" b="1">
                <a:solidFill>
                  <a:srgbClr val="0F1B2D"/>
                </a:solidFill>
                <a:latin typeface="微软雅黑"/>
                <a:ea typeface="微软雅黑"/>
              </a:rPr>
              <a:t>AI</a:t>
            </a:r>
            <a:r>
              <a:rPr lang="zh-CN" altLang="en-US" sz="1800" b="1">
                <a:solidFill>
                  <a:srgbClr val="0F1B2D"/>
                </a:solidFill>
                <a:latin typeface="微软雅黑"/>
                <a:ea typeface="微软雅黑"/>
              </a:rPr>
              <a:t>工具使用声明</a:t>
            </a:r>
            <a:endParaRPr lang="zh-CN" altLang="en-US" sz="18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737360" y="4892040"/>
            <a:ext cx="7772400" cy="127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7280" y="5074920"/>
            <a:ext cx="411480" cy="4114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6</a:t>
            </a:r>
            <a:endParaRPr sz="14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737360" y="512064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lang="zh-CN" altLang="en-US" sz="1800" b="1">
                <a:solidFill>
                  <a:srgbClr val="0F1B2D"/>
                </a:solidFill>
                <a:latin typeface="微软雅黑"/>
                <a:ea typeface="微软雅黑"/>
              </a:rPr>
              <a:t>测试与验证情况</a:t>
            </a:r>
            <a:endParaRPr lang="zh-CN" altLang="en-US" sz="18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737360" y="5577840"/>
            <a:ext cx="7772400" cy="127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97280" y="5760720"/>
            <a:ext cx="411480" cy="4114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7</a:t>
            </a:r>
            <a:endParaRPr sz="14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737360" y="580644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B2D"/>
                </a:solidFill>
                <a:latin typeface="微软雅黑"/>
                <a:ea typeface="微软雅黑"/>
              </a:rPr>
              <a:t>总结与应用价值</a:t>
            </a:r>
            <a:r>
              <a:rPr lang="en-US" sz="1800" b="1">
                <a:solidFill>
                  <a:srgbClr val="0F1B2D"/>
                </a:solidFill>
                <a:latin typeface="微软雅黑"/>
                <a:ea typeface="微软雅黑"/>
              </a:rPr>
              <a:t>,</a:t>
            </a:r>
            <a:r>
              <a:rPr lang="zh-CN" altLang="en-US" sz="1800" b="1">
                <a:solidFill>
                  <a:srgbClr val="0F1B2D"/>
                </a:solidFill>
                <a:latin typeface="微软雅黑"/>
                <a:ea typeface="微软雅黑"/>
              </a:rPr>
              <a:t>后续工作规划</a:t>
            </a:r>
            <a:endParaRPr lang="zh-CN" altLang="en-US" sz="18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737360" y="6263640"/>
            <a:ext cx="7772400" cy="127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0" y="1828800"/>
            <a:ext cx="128016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endParaRPr sz="1600" b="1">
              <a:solidFill>
                <a:srgbClr val="E8792B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2 / </a:t>
            </a:r>
            <a:r>
              <a:rPr lang="en-US" sz="900">
                <a:solidFill>
                  <a:srgbClr val="4A5568"/>
                </a:solidFill>
                <a:latin typeface="微软雅黑"/>
                <a:ea typeface="微软雅黑"/>
                <a:sym typeface="+mn-ea"/>
              </a:rPr>
              <a:t>26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微软雅黑"/>
              </a:rPr>
              <a:t>1</a:t>
            </a:r>
            <a:endParaRPr lang="en-US"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2004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lang="zh-CN" altLang="en-US" sz="2600" b="1">
                <a:solidFill>
                  <a:srgbClr val="0F1B2D"/>
                </a:solidFill>
                <a:latin typeface="微软雅黑"/>
                <a:ea typeface="微软雅黑"/>
                <a:sym typeface="+mn-ea"/>
              </a:rPr>
              <a:t>团队介绍与分工</a:t>
            </a:r>
            <a:endParaRPr lang="zh-CN" altLang="en-US" sz="2600" b="1">
              <a:solidFill>
                <a:srgbClr val="0F1B2D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</a:pPr>
            <a:endParaRPr sz="26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</a:pPr>
            <a:r>
              <a:rPr lang="en-US" sz="900" b="0">
                <a:solidFill>
                  <a:srgbClr val="4A5568"/>
                </a:solidFill>
                <a:latin typeface="微软雅黑"/>
                <a:ea typeface="微软雅黑"/>
              </a:rPr>
              <a:t>3</a:t>
            </a: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en-US" sz="900">
                <a:solidFill>
                  <a:srgbClr val="4A5568"/>
                </a:solidFill>
                <a:latin typeface="微软雅黑"/>
                <a:ea typeface="微软雅黑"/>
                <a:sym typeface="+mn-ea"/>
              </a:rPr>
              <a:t>26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005" y="1230630"/>
            <a:ext cx="4155440" cy="393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团队成员构成与职责分配：</a:t>
            </a:r>
            <a:endParaRPr lang="en-US" altLang="zh-CN"/>
          </a:p>
        </p:txBody>
      </p:sp>
      <p:graphicFrame>
        <p:nvGraphicFramePr>
          <p:cNvPr id="8" name="表格 7"/>
          <p:cNvGraphicFramePr/>
          <p:nvPr/>
        </p:nvGraphicFramePr>
        <p:xfrm>
          <a:off x="548640" y="1800860"/>
          <a:ext cx="11069320" cy="3362325"/>
        </p:xfrm>
        <a:graphic>
          <a:graphicData uri="http://schemas.openxmlformats.org/drawingml/2006/table">
            <a:tbl>
              <a:tblPr/>
              <a:tblGrid>
                <a:gridCol w="2328545"/>
                <a:gridCol w="2258060"/>
                <a:gridCol w="3715385"/>
                <a:gridCol w="2767330"/>
              </a:tblGrid>
              <a:tr h="507365"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角色</a:t>
                      </a:r>
                      <a:endParaRPr lang="zh-CN" altLang="en-US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人员代号</a:t>
                      </a:r>
                      <a:endParaRPr lang="zh-CN" altLang="en-US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匹配完成任务</a:t>
                      </a:r>
                      <a:endParaRPr lang="zh-CN" altLang="en-US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支撑模块</a:t>
                      </a:r>
                      <a:endParaRPr lang="zh-CN" altLang="en-US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40765">
                <a:tc>
                  <a:txBody>
                    <a:bodyPr/>
                    <a:p>
                      <a:pPr algn="l"/>
                      <a:r>
                        <a:rPr lang="zh-CN" sz="1100"/>
                        <a:t>周连峰</a:t>
                      </a:r>
                      <a:endParaRPr lang="zh-CN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zlf</a:t>
                      </a:r>
                      <a:endParaRPr lang="en-US" altLang="zh-CN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开发主程序界面展示系统日志；用户查询异常时调用 </a:t>
                      </a:r>
                      <a:r>
                        <a:rPr lang="en-US" altLang="zh-CN" sz="1100"/>
                        <a:t>AI+RAG，</a:t>
                      </a:r>
                      <a:r>
                        <a:rPr lang="zh-CN" altLang="en-US" sz="1100"/>
                        <a:t>返回 </a:t>
                      </a:r>
                      <a:r>
                        <a:rPr lang="en-US" altLang="zh-CN" sz="1100"/>
                        <a:t>TopN </a:t>
                      </a:r>
                      <a:r>
                        <a:rPr lang="zh-CN" altLang="en-US" sz="1100"/>
                        <a:t>解决方案</a:t>
                      </a:r>
                      <a:endParaRPr lang="zh-CN" altLang="en-US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展示系统日志给用户，用户查询异常日志时调用 </a:t>
                      </a:r>
                      <a:r>
                        <a:rPr lang="en-US" altLang="zh-CN" sz="1100"/>
                        <a:t>AI+RAG，</a:t>
                      </a:r>
                      <a:r>
                        <a:rPr lang="zh-CN" altLang="en-US" sz="1100"/>
                        <a:t>返回 </a:t>
                      </a:r>
                      <a:r>
                        <a:rPr lang="en-US" altLang="zh-CN" sz="1100"/>
                        <a:t>TopN </a:t>
                      </a:r>
                      <a:r>
                        <a:rPr lang="zh-CN" altLang="en-US" sz="1100"/>
                        <a:t>宕机解决方案，对接前端交互、</a:t>
                      </a:r>
                      <a:r>
                        <a:rPr lang="en-US" altLang="zh-CN" sz="1100"/>
                        <a:t>LLM </a:t>
                      </a:r>
                      <a:r>
                        <a:rPr lang="zh-CN" altLang="en-US" sz="1100"/>
                        <a:t>调用、</a:t>
                      </a:r>
                      <a:r>
                        <a:rPr lang="en-US" altLang="zh-CN" sz="1100"/>
                        <a:t>RAG </a:t>
                      </a:r>
                      <a:r>
                        <a:rPr lang="zh-CN" altLang="en-US" sz="1100"/>
                        <a:t>检索展示全流程，</a:t>
                      </a:r>
                      <a:r>
                        <a:rPr lang="en-US" altLang="zh-CN" sz="1100"/>
                        <a:t>RAG </a:t>
                      </a:r>
                      <a:r>
                        <a:rPr lang="zh-CN" altLang="en-US" sz="1100"/>
                        <a:t>检索与 </a:t>
                      </a:r>
                      <a:r>
                        <a:rPr lang="en-US" altLang="zh-CN" sz="1100"/>
                        <a:t>AI </a:t>
                      </a:r>
                      <a:r>
                        <a:rPr lang="zh-CN" altLang="en-US" sz="1100"/>
                        <a:t>结果展示，形成完整数据处理链路</a:t>
                      </a:r>
                      <a:endParaRPr lang="zh-CN" altLang="en-US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74065"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李凯萱</a:t>
                      </a:r>
                      <a:endParaRPr lang="zh-CN" altLang="en-US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lkx</a:t>
                      </a:r>
                      <a:endParaRPr lang="en-US" altLang="zh-CN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将结构化 </a:t>
                      </a:r>
                      <a:r>
                        <a:rPr lang="en-US" altLang="zh-CN" sz="1100"/>
                        <a:t>Git </a:t>
                      </a:r>
                      <a:r>
                        <a:rPr lang="zh-CN" altLang="en-US" sz="1100"/>
                        <a:t>提交数据写入向量数据库构建索引</a:t>
                      </a:r>
                      <a:endParaRPr lang="zh-CN" altLang="en-US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/>
                        <a:t>负责向量库存储索引构建，完成向量索引底层存储落地，对应</a:t>
                      </a:r>
                      <a:r>
                        <a:rPr lang="en-US" altLang="zh-CN" sz="1100"/>
                        <a:t>indexer（</a:t>
                      </a:r>
                      <a:r>
                        <a:rPr lang="zh-CN" altLang="en-US" sz="1100"/>
                        <a:t>向量化索引）模块，承担向量库入库工作，将结构化 </a:t>
                      </a:r>
                      <a:r>
                        <a:rPr lang="en-US" altLang="zh-CN" sz="1100"/>
                        <a:t>Git </a:t>
                      </a:r>
                      <a:r>
                        <a:rPr lang="zh-CN" altLang="en-US" sz="1100"/>
                        <a:t>提交数据写入向量数据库构建索引</a:t>
                      </a:r>
                      <a:endParaRPr lang="zh-CN" altLang="en-US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40130">
                <a:tc>
                  <a:txBody>
                    <a:bodyPr/>
                    <a:p>
                      <a:pPr algn="l"/>
                      <a:r>
                        <a:rPr lang="zh-CN" sz="1100"/>
                        <a:t>丁衡</a:t>
                      </a:r>
                      <a:endParaRPr lang="zh-CN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/>
                        <a:t>dh</a:t>
                      </a:r>
                      <a:endParaRPr lang="en-US" altLang="zh-CN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>
                          <a:sym typeface="+mn-ea"/>
                        </a:rPr>
                        <a:t>获取系统日志并梳理日志问题点；</a:t>
                      </a:r>
                      <a:r>
                        <a:rPr lang="en-US" altLang="zh-CN" sz="1100">
                          <a:sym typeface="+mn-ea"/>
                        </a:rPr>
                        <a:t> </a:t>
                      </a:r>
                      <a:r>
                        <a:rPr lang="zh-CN" altLang="en-US" sz="1100">
                          <a:sym typeface="+mn-ea"/>
                        </a:rPr>
                        <a:t>结构化提取 </a:t>
                      </a:r>
                      <a:r>
                        <a:rPr lang="en-US" altLang="zh-CN" sz="1100">
                          <a:sym typeface="+mn-ea"/>
                        </a:rPr>
                        <a:t>Linux kernel Git </a:t>
                      </a:r>
                      <a:r>
                        <a:rPr lang="zh-CN" altLang="en-US" sz="1100">
                          <a:sym typeface="+mn-ea"/>
                        </a:rPr>
                        <a:t>提交信息、代码差异</a:t>
                      </a:r>
                      <a:endParaRPr lang="zh-CN" altLang="en-US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>
                          <a:sym typeface="+mn-ea"/>
                        </a:rPr>
                        <a:t>承担日志采集、</a:t>
                      </a:r>
                      <a:r>
                        <a:rPr lang="en-US" altLang="zh-CN" sz="1100">
                          <a:sym typeface="+mn-ea"/>
                        </a:rPr>
                        <a:t>Git </a:t>
                      </a:r>
                      <a:r>
                        <a:rPr lang="zh-CN" altLang="en-US" sz="1100">
                          <a:sym typeface="+mn-ea"/>
                        </a:rPr>
                        <a:t>代码提交解析、宕机日志问题点分析底层逻辑开发，</a:t>
                      </a:r>
                      <a:r>
                        <a:rPr lang="zh-CN" altLang="en-US" sz="1100"/>
                        <a:t>负责底层原始数据采集解析，负责</a:t>
                      </a:r>
                      <a:r>
                        <a:rPr lang="en-US" altLang="zh-CN" sz="1100"/>
                        <a:t>collector/parser（Commit</a:t>
                      </a:r>
                      <a:r>
                        <a:rPr lang="zh-CN" altLang="en-US" sz="1100"/>
                        <a:t>采集解析）、</a:t>
                      </a:r>
                      <a:r>
                        <a:rPr lang="en-US" altLang="zh-CN" sz="1100"/>
                        <a:t>analyzer（</a:t>
                      </a:r>
                      <a:r>
                        <a:rPr lang="zh-CN" altLang="en-US" sz="1100"/>
                        <a:t>宕机分析引擎）；</a:t>
                      </a:r>
                      <a:r>
                        <a:rPr lang="en-US" altLang="zh-CN" sz="1100"/>
                        <a:t>frontend </a:t>
                      </a:r>
                      <a:r>
                        <a:rPr lang="zh-CN" altLang="en-US" sz="1100"/>
                        <a:t>前端 </a:t>
                      </a:r>
                      <a:r>
                        <a:rPr lang="en-US" altLang="zh-CN" sz="1100"/>
                        <a:t>UI</a:t>
                      </a:r>
                      <a:endParaRPr lang="zh-CN" altLang="en-US" sz="1100"/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548005" y="5340350"/>
            <a:ext cx="11076305" cy="763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6"/>
            <a:r>
              <a:rPr lang="zh-CN" altLang="en-US" sz="1600">
                <a:sym typeface="+mn-ea"/>
              </a:rPr>
              <a:t>分工总结：分工无重叠、流程闭环。</a:t>
            </a:r>
            <a:endParaRPr lang="zh-CN" altLang="en-US" sz="1600"/>
          </a:p>
          <a:p>
            <a:endParaRPr lang="zh-CN" altLang="en-US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微软雅黑"/>
              </a:rPr>
              <a:t>2</a:t>
            </a:r>
            <a:endParaRPr lang="en-US"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2004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lang="zh-CN" altLang="en-US" sz="2600" b="1">
                <a:solidFill>
                  <a:srgbClr val="0F1B2D"/>
                </a:solidFill>
                <a:latin typeface="微软雅黑"/>
                <a:ea typeface="微软雅黑"/>
                <a:sym typeface="+mn-ea"/>
              </a:rPr>
              <a:t>项目开发时间线与任务推进</a:t>
            </a:r>
            <a:endParaRPr sz="26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</a:pPr>
            <a:r>
              <a:rPr lang="en-US" sz="900" b="0">
                <a:solidFill>
                  <a:srgbClr val="4A5568"/>
                </a:solidFill>
                <a:latin typeface="微软雅黑"/>
                <a:ea typeface="微软雅黑"/>
              </a:rPr>
              <a:t>4</a:t>
            </a: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en-US" sz="900">
                <a:solidFill>
                  <a:srgbClr val="4A5568"/>
                </a:solidFill>
                <a:latin typeface="微软雅黑"/>
                <a:ea typeface="微软雅黑"/>
                <a:sym typeface="+mn-ea"/>
              </a:rPr>
              <a:t>26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34440" y="860425"/>
            <a:ext cx="7418070" cy="365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2026年5月30日 — 2026年6月</a:t>
            </a:r>
            <a:r>
              <a:rPr lang="en-US" altLang="zh-CN" sz="1600"/>
              <a:t>30</a:t>
            </a:r>
            <a:r>
              <a:rPr lang="zh-CN" altLang="en-US" sz="1600"/>
              <a:t>日</a:t>
            </a:r>
            <a:endParaRPr lang="zh-CN" altLang="en-US" sz="1600"/>
          </a:p>
        </p:txBody>
      </p:sp>
      <p:sp>
        <p:nvSpPr>
          <p:cNvPr id="8" name="文本框 7"/>
          <p:cNvSpPr txBox="1"/>
          <p:nvPr/>
        </p:nvSpPr>
        <p:spPr>
          <a:xfrm>
            <a:off x="548640" y="1214120"/>
            <a:ext cx="5547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▎第一阶段：基础搭建（5月30日 — 6月8日）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48640" y="1582420"/>
            <a:ext cx="11063605" cy="1988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graphicFrame>
        <p:nvGraphicFramePr>
          <p:cNvPr id="12" name="表格 11"/>
          <p:cNvGraphicFramePr/>
          <p:nvPr/>
        </p:nvGraphicFramePr>
        <p:xfrm>
          <a:off x="548640" y="1651635"/>
          <a:ext cx="11059160" cy="1875790"/>
        </p:xfrm>
        <a:graphic>
          <a:graphicData uri="http://schemas.openxmlformats.org/drawingml/2006/table">
            <a:tbl>
              <a:tblPr/>
              <a:tblGrid>
                <a:gridCol w="2764790"/>
                <a:gridCol w="2764790"/>
                <a:gridCol w="2764790"/>
                <a:gridCol w="2764790"/>
              </a:tblGrid>
              <a:tr h="267970"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 b="1">
                          <a:latin typeface="微软雅黑"/>
                          <a:ea typeface="微软雅黑"/>
                        </a:rPr>
                        <a:t>时间</a:t>
                      </a:r>
                      <a:endParaRPr lang="zh-CN" sz="1000" b="1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 b="1">
                          <a:latin typeface="微软雅黑"/>
                          <a:ea typeface="微软雅黑"/>
                        </a:rPr>
                        <a:t>任务</a:t>
                      </a:r>
                      <a:endParaRPr lang="zh-CN" sz="1000" b="1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 b="1">
                          <a:latin typeface="微软雅黑"/>
                          <a:ea typeface="微软雅黑"/>
                        </a:rPr>
                        <a:t>负责人</a:t>
                      </a:r>
                      <a:endParaRPr lang="zh-CN" sz="1000" b="1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 b="1">
                          <a:latin typeface="微软雅黑"/>
                          <a:ea typeface="微软雅黑"/>
                        </a:rPr>
                        <a:t>状态</a:t>
                      </a:r>
                      <a:endParaRPr lang="zh-CN" sz="1000" b="1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594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5.30 - 6.2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项目初始化，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Git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仓库建立，代码框架搭建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lkx, 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dh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完成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594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6.2 - 6.5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collector/parser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初版代码上传，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Commit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解析模块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dh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, lkx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完成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594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6.5 - 6.8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项目结构规范化，依赖管理，初版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README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zlf</a:t>
                      </a:r>
                      <a:r>
                        <a:rPr lang="zh-CN" altLang="en-US" sz="1000">
                          <a:latin typeface="微软雅黑"/>
                          <a:ea typeface="宋体" charset="0"/>
                        </a:rPr>
                        <a:t>，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lkx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完成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548640" y="3596640"/>
            <a:ext cx="5833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▎第二阶段：核心开发（6月19日 — 6月23日）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548640" y="4076700"/>
            <a:ext cx="11063605" cy="2369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graphicFrame>
        <p:nvGraphicFramePr>
          <p:cNvPr id="16" name="表格 15"/>
          <p:cNvGraphicFramePr/>
          <p:nvPr/>
        </p:nvGraphicFramePr>
        <p:xfrm>
          <a:off x="548640" y="3990975"/>
          <a:ext cx="11061700" cy="2181225"/>
        </p:xfrm>
        <a:graphic>
          <a:graphicData uri="http://schemas.openxmlformats.org/drawingml/2006/table">
            <a:tbl>
              <a:tblPr/>
              <a:tblGrid>
                <a:gridCol w="2765425"/>
                <a:gridCol w="2765425"/>
                <a:gridCol w="2765425"/>
                <a:gridCol w="2765425"/>
              </a:tblGrid>
              <a:tr h="272415"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 b="1">
                          <a:latin typeface="微软雅黑"/>
                          <a:ea typeface="微软雅黑"/>
                        </a:rPr>
                        <a:t>时间</a:t>
                      </a:r>
                      <a:endParaRPr lang="zh-CN" sz="1000" b="1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 b="1">
                          <a:latin typeface="微软雅黑"/>
                          <a:ea typeface="微软雅黑"/>
                        </a:rPr>
                        <a:t>任务</a:t>
                      </a:r>
                      <a:endParaRPr lang="zh-CN" sz="1000" b="1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 b="1">
                          <a:latin typeface="微软雅黑"/>
                          <a:ea typeface="微软雅黑"/>
                        </a:rPr>
                        <a:t>负责人</a:t>
                      </a:r>
                      <a:endParaRPr lang="zh-CN" sz="1000" b="1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 b="1">
                          <a:latin typeface="微软雅黑"/>
                          <a:ea typeface="微软雅黑"/>
                        </a:rPr>
                        <a:t>状态</a:t>
                      </a:r>
                      <a:endParaRPr lang="zh-CN" sz="1000" b="1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546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6.19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分析器核心模块开发（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analyzer/rootcause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）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lkx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完成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305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6.22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FAISS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向量数据库集成，离线索引模块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dh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完成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241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6.22 - 6.23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FastAPI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接口层搭建，前后端联调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  <a:sym typeface="+mn-ea"/>
                        </a:rPr>
                        <a:t>zlf</a:t>
                      </a:r>
                      <a:r>
                        <a:rPr lang="zh-CN" altLang="en-US" sz="1000">
                          <a:latin typeface="微软雅黑"/>
                          <a:ea typeface="宋体" charset="0"/>
                          <a:sym typeface="+mn-ea"/>
                        </a:rPr>
                        <a:t>，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dh, lkx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完成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241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6.23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前端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Vue3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框架搭建，基础页面开发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dh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完成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546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6.23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服务层、知识库、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Bug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模式图谱基础开发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lkx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完成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微软雅黑"/>
              </a:rPr>
              <a:t>2</a:t>
            </a:r>
            <a:endParaRPr lang="en-US"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2004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lang="zh-CN" altLang="en-US" sz="2600" b="1">
                <a:solidFill>
                  <a:srgbClr val="0F1B2D"/>
                </a:solidFill>
                <a:latin typeface="微软雅黑"/>
                <a:ea typeface="微软雅黑"/>
                <a:sym typeface="+mn-ea"/>
              </a:rPr>
              <a:t>项目开发时间线与任务推进</a:t>
            </a:r>
            <a:endParaRPr sz="26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</a:pPr>
            <a:r>
              <a:rPr lang="en-US" sz="900" b="0">
                <a:solidFill>
                  <a:srgbClr val="4A5568"/>
                </a:solidFill>
                <a:latin typeface="微软雅黑"/>
                <a:ea typeface="微软雅黑"/>
              </a:rPr>
              <a:t>5 </a:t>
            </a: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/ </a:t>
            </a:r>
            <a:r>
              <a:rPr lang="en-US" sz="900">
                <a:solidFill>
                  <a:srgbClr val="4A5568"/>
                </a:solidFill>
                <a:latin typeface="微软雅黑"/>
                <a:ea typeface="微软雅黑"/>
                <a:sym typeface="+mn-ea"/>
              </a:rPr>
              <a:t>26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34440" y="860425"/>
            <a:ext cx="7418070" cy="365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2026年5月30日 — 2026年6月</a:t>
            </a:r>
            <a:r>
              <a:rPr lang="en-US" altLang="zh-CN" sz="1600"/>
              <a:t>30</a:t>
            </a:r>
            <a:r>
              <a:rPr lang="zh-CN" altLang="en-US" sz="1600"/>
              <a:t>日</a:t>
            </a:r>
            <a:endParaRPr lang="zh-CN" altLang="en-US" sz="1600"/>
          </a:p>
        </p:txBody>
      </p:sp>
      <p:sp>
        <p:nvSpPr>
          <p:cNvPr id="8" name="文本框 7"/>
          <p:cNvSpPr txBox="1"/>
          <p:nvPr/>
        </p:nvSpPr>
        <p:spPr>
          <a:xfrm>
            <a:off x="548640" y="1214120"/>
            <a:ext cx="5547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▎第三阶段：功能增强（6月24日 — 6月27日）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48640" y="1582420"/>
            <a:ext cx="11063605" cy="4881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548640" y="4641850"/>
            <a:ext cx="11063605" cy="2047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▎第四阶段：集成优化（6月28日 — 6月29日）</a:t>
            </a:r>
            <a:endParaRPr lang="zh-CN" altLang="en-US"/>
          </a:p>
          <a:p>
            <a:endParaRPr lang="zh-CN" altLang="en-US"/>
          </a:p>
        </p:txBody>
      </p:sp>
      <p:graphicFrame>
        <p:nvGraphicFramePr>
          <p:cNvPr id="9" name="表格 8"/>
          <p:cNvGraphicFramePr/>
          <p:nvPr>
            <p:custDataLst>
              <p:tags r:id="rId1"/>
            </p:custDataLst>
          </p:nvPr>
        </p:nvGraphicFramePr>
        <p:xfrm>
          <a:off x="548640" y="1587500"/>
          <a:ext cx="10998200" cy="3078480"/>
        </p:xfrm>
        <a:graphic>
          <a:graphicData uri="http://schemas.openxmlformats.org/drawingml/2006/table">
            <a:tbl>
              <a:tblPr/>
              <a:tblGrid>
                <a:gridCol w="2749550"/>
                <a:gridCol w="2749550"/>
                <a:gridCol w="2749550"/>
                <a:gridCol w="2749550"/>
              </a:tblGrid>
              <a:tr h="182880"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 b="1">
                          <a:latin typeface="微软雅黑"/>
                          <a:ea typeface="微软雅黑"/>
                        </a:rPr>
                        <a:t>时间</a:t>
                      </a:r>
                      <a:endParaRPr lang="zh-CN" sz="1000" b="1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 b="1">
                          <a:latin typeface="微软雅黑"/>
                          <a:ea typeface="微软雅黑"/>
                        </a:rPr>
                        <a:t>任务</a:t>
                      </a:r>
                      <a:endParaRPr lang="zh-CN" sz="1000" b="1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 b="1">
                          <a:latin typeface="微软雅黑"/>
                          <a:ea typeface="微软雅黑"/>
                        </a:rPr>
                        <a:t>负责人</a:t>
                      </a:r>
                      <a:endParaRPr lang="zh-CN" sz="1000" b="1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 b="1">
                          <a:latin typeface="微软雅黑"/>
                          <a:ea typeface="微软雅黑"/>
                        </a:rPr>
                        <a:t>状态</a:t>
                      </a:r>
                      <a:endParaRPr lang="zh-CN" sz="1000" b="1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24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6.24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前端页面组件开发，交互逻辑完善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  <a:sym typeface="+mn-ea"/>
                        </a:rPr>
                        <a:t>zlf</a:t>
                      </a:r>
                      <a:r>
                        <a:rPr lang="zh-CN" altLang="en-US" sz="1000">
                          <a:latin typeface="微软雅黑"/>
                          <a:ea typeface="宋体" charset="0"/>
                          <a:sym typeface="+mn-ea"/>
                        </a:rPr>
                        <a:t>，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lkx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完成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6.25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前端视觉风格重构，暗色专业主题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dh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完成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24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6.25 - 6.26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开发迭代文档编写，历史记录补充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lkx, dh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完成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179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6.26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离线向量数据库模块替换，真实数据替代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Mock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lkx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完成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6.26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版本感知能力，前端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UI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组件优化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lkx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完成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12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6.26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API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接口修复（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SearchRequest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字段），缓存预热机制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lkx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完成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12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6.27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可解释性增强：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ScoreBreakdown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多维评分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+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根因证据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+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版本感知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  <a:sym typeface="+mn-ea"/>
                        </a:rPr>
                        <a:t>zlf</a:t>
                      </a:r>
                      <a:r>
                        <a:rPr lang="zh-CN" altLang="en-US" sz="1000">
                          <a:latin typeface="微软雅黑"/>
                          <a:ea typeface="宋体" charset="0"/>
                          <a:sym typeface="+mn-ea"/>
                        </a:rPr>
                        <a:t>，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dh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完成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12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6.27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多架构调用栈格式支持，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FAISS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分数归一化修复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lkx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完成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306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6.27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LLM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防幻觉约束，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API Key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泄露风险修复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  <a:sym typeface="+mn-ea"/>
                        </a:rPr>
                        <a:t>zlf</a:t>
                      </a:r>
                      <a:r>
                        <a:rPr lang="zh-CN" altLang="en-US" sz="1000">
                          <a:latin typeface="微软雅黑"/>
                          <a:ea typeface="宋体" charset="0"/>
                          <a:sym typeface="+mn-ea"/>
                        </a:rPr>
                        <a:t>，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dh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完成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24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6.27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全量数据库部署方法与一键下载脚本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  <a:sym typeface="+mn-ea"/>
                        </a:rPr>
                        <a:t>zlf</a:t>
                      </a:r>
                      <a:r>
                        <a:rPr lang="zh-CN" altLang="en-US" sz="1000">
                          <a:latin typeface="微软雅黑"/>
                          <a:ea typeface="宋体" charset="0"/>
                          <a:sym typeface="+mn-ea"/>
                        </a:rPr>
                        <a:t>，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lkx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完成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6.27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前端卡片组件布局改造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lkx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完成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>
            <p:custDataLst>
              <p:tags r:id="rId2"/>
            </p:custDataLst>
          </p:nvPr>
        </p:nvGraphicFramePr>
        <p:xfrm>
          <a:off x="548640" y="5001260"/>
          <a:ext cx="10998200" cy="1708785"/>
        </p:xfrm>
        <a:graphic>
          <a:graphicData uri="http://schemas.openxmlformats.org/drawingml/2006/table">
            <a:tbl>
              <a:tblPr/>
              <a:tblGrid>
                <a:gridCol w="2749550"/>
                <a:gridCol w="2749550"/>
                <a:gridCol w="2749550"/>
                <a:gridCol w="2749550"/>
              </a:tblGrid>
              <a:tr h="213995"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 b="1">
                          <a:latin typeface="微软雅黑"/>
                          <a:ea typeface="微软雅黑"/>
                        </a:rPr>
                        <a:t>时间</a:t>
                      </a:r>
                      <a:endParaRPr lang="zh-CN" sz="1000" b="1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 b="1">
                          <a:latin typeface="微软雅黑"/>
                          <a:ea typeface="微软雅黑"/>
                        </a:rPr>
                        <a:t>任务</a:t>
                      </a:r>
                      <a:endParaRPr lang="zh-CN" sz="1000" b="1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 b="1">
                          <a:latin typeface="微软雅黑"/>
                          <a:ea typeface="微软雅黑"/>
                        </a:rPr>
                        <a:t>负责人</a:t>
                      </a:r>
                      <a:endParaRPr lang="zh-CN" sz="1000" b="1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 b="1">
                          <a:latin typeface="微软雅黑"/>
                          <a:ea typeface="微软雅黑"/>
                        </a:rPr>
                        <a:t>状态</a:t>
                      </a:r>
                      <a:endParaRPr lang="zh-CN" sz="1000" b="1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672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6.28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部署文档完善，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data/data_full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调用逻辑统一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  <a:sym typeface="+mn-ea"/>
                        </a:rPr>
                        <a:t>zlf</a:t>
                      </a:r>
                      <a:r>
                        <a:rPr lang="zh-CN" altLang="en-US" sz="1000">
                          <a:latin typeface="微软雅黑"/>
                          <a:ea typeface="宋体" charset="0"/>
                          <a:sym typeface="+mn-ea"/>
                        </a:rPr>
                        <a:t>，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lkx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完成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735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6.28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前端页面优化，删除全部测试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Mock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数据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lkx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完成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6.28 - 6.29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README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完整更新，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API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文档完善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lkx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完成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6.29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前端页面最终修改，测试日志补充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lkx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完成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99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6.29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作品进展汇报材料准备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全队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完成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微软雅黑"/>
              </a:rPr>
              <a:t>3</a:t>
            </a:r>
            <a:endParaRPr lang="en-US"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2004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1B2D"/>
                </a:solidFill>
                <a:latin typeface="微软雅黑"/>
                <a:ea typeface="微软雅黑"/>
              </a:rPr>
              <a:t>内核宕机诊断的行业痛点与核心挑战</a:t>
            </a:r>
            <a:endParaRPr sz="26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34440" y="77724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A5568"/>
                </a:solidFill>
                <a:latin typeface="Arial" panose="020B0604020202020204"/>
                <a:ea typeface="Arial" panose="020B0604020202020204"/>
              </a:rPr>
              <a:t>Industry Pain Points &amp; Core Challenges in Kernel Crash Diagnosis</a:t>
            </a:r>
            <a:endParaRPr sz="1200" b="0">
              <a:solidFill>
                <a:srgbClr val="4A5568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1B2D"/>
                </a:solidFill>
                <a:latin typeface="微软雅黑"/>
                <a:ea typeface="微软雅黑"/>
              </a:rPr>
              <a:t>▎行业背景与痛点</a:t>
            </a:r>
            <a:endParaRPr sz="16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1097280" cy="256032"/>
          </a:xfrm>
          <a:prstGeom prst="round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6596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运维痛点</a:t>
            </a:r>
            <a:endParaRPr sz="9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28800" y="1947672"/>
            <a:ext cx="4114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</a:rPr>
              <a:t>145万+ Linux Kernel Commit，人工分析宕机需数小时/天，
严重依赖资深内核专家，中小企业无法承担人力成本。</a:t>
            </a:r>
            <a:endParaRPr sz="105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2788920"/>
            <a:ext cx="1097280" cy="256032"/>
          </a:xfrm>
          <a:prstGeom prst="round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语义鸿沟</a:t>
            </a:r>
            <a:endParaRPr sz="9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800" y="2770632"/>
            <a:ext cx="4114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</a:rPr>
              <a:t>宕机日志呈现「运行时错误现象」（如 list_del 损坏），
补丁描述「代码层修复逻辑」（如添加锁保护），两者语义不匹配。</a:t>
            </a:r>
            <a:endParaRPr sz="105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" y="3611880"/>
            <a:ext cx="1097280" cy="256032"/>
          </a:xfrm>
          <a:prstGeom prst="round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61188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多模态输入</a:t>
            </a:r>
            <a:endParaRPr sz="9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28800" y="3593592"/>
            <a:ext cx="4114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</a:rPr>
              <a:t>生产环境宕机信息多样：vmcore 二进制内存镜像、
dmesg 文本日志、运维人员自然语言描述，异构数据难统一。</a:t>
            </a:r>
            <a:endParaRPr sz="105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4434840"/>
            <a:ext cx="1097280" cy="256032"/>
          </a:xfrm>
          <a:prstGeom prst="round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434840"/>
            <a:ext cx="10058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版本演化</a:t>
            </a:r>
            <a:endParaRPr sz="9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28800" y="4416552"/>
            <a:ext cx="4114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4A5568"/>
                </a:solidFill>
                <a:latin typeface="微软雅黑"/>
                <a:ea typeface="微软雅黑"/>
              </a:rPr>
              <a:t>同一函数跨内核版本实现差异大（kernel 4.9 vs 6.13），
补丁需精确匹配目标版本，避免引入新问题。</a:t>
            </a:r>
            <a:endParaRPr sz="105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17920" y="146304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1B2D"/>
                </a:solidFill>
                <a:latin typeface="微软雅黑"/>
                <a:ea typeface="微软雅黑"/>
              </a:rPr>
              <a:t>▎四大核心挑战</a:t>
            </a:r>
            <a:endParaRPr sz="16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217920" y="1965960"/>
          <a:ext cx="5394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2860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挑战维度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DC35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核心问题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DC35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量化指标/示例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DC35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语义非对称性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宕机现象≠修复逻辑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相似度仅0.3
「list_del损坏」≠「加锁」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海量检索效率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百万级Commit秒级检索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145万×28子系统
×21 Bug类型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版本演化敏感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同函数跨版本实现差异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kernel 4.9 vs 6.13
函数逻辑不同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多模态融合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异构数据统一特征表示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vmcore+dmesg
+问题描述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548640" y="5486400"/>
            <a:ext cx="110642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577840"/>
            <a:ext cx="10698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3A5F"/>
                </a:solidFill>
                <a:latin typeface="微软雅黑"/>
                <a:ea typeface="微软雅黑"/>
              </a:rPr>
              <a:t>💡 本项目核心目标：构建「输入宕机日志 → 自动根因分析 → Commit精准匹配 → </a:t>
            </a:r>
            <a:r>
              <a:rPr lang="en-US" sz="1300" b="1">
                <a:solidFill>
                  <a:srgbClr val="1E3A5F"/>
                </a:solidFill>
                <a:latin typeface="微软雅黑"/>
                <a:ea typeface="微软雅黑"/>
              </a:rPr>
              <a:t>LLM</a:t>
            </a:r>
            <a:r>
              <a:rPr sz="1300" b="1">
                <a:solidFill>
                  <a:srgbClr val="1E3A5F"/>
                </a:solidFill>
                <a:latin typeface="微软雅黑"/>
                <a:ea typeface="微软雅黑"/>
              </a:rPr>
              <a:t>可解释诊断报告」的全自动智能诊断流水线</a:t>
            </a:r>
            <a:endParaRPr sz="1300" b="1">
              <a:solidFill>
                <a:srgbClr val="1E3A5F"/>
              </a:solidFill>
              <a:latin typeface="微软雅黑"/>
              <a:ea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</a:pPr>
            <a:r>
              <a:rPr lang="en-US" sz="900" b="0">
                <a:solidFill>
                  <a:srgbClr val="4A5568"/>
                </a:solidFill>
                <a:latin typeface="微软雅黑"/>
                <a:ea typeface="微软雅黑"/>
              </a:rPr>
              <a:t>6</a:t>
            </a: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en-US" sz="900">
                <a:solidFill>
                  <a:srgbClr val="4A5568"/>
                </a:solidFill>
                <a:latin typeface="微软雅黑"/>
                <a:ea typeface="微软雅黑"/>
                <a:sym typeface="+mn-ea"/>
              </a:rPr>
              <a:t>26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3</a:t>
            </a:r>
            <a:endParaRPr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2004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lang="zh-CN" altLang="en-US" sz="2600" b="1">
                <a:solidFill>
                  <a:srgbClr val="0F1B2D"/>
                </a:solidFill>
                <a:latin typeface="微软雅黑"/>
                <a:ea typeface="微软雅黑"/>
                <a:sym typeface="+mn-ea"/>
              </a:rPr>
              <a:t>核心模块开发进展</a:t>
            </a:r>
            <a:endParaRPr lang="zh-CN" altLang="en-US" sz="2600" b="1">
              <a:solidFill>
                <a:srgbClr val="0F1B2D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</a:pPr>
            <a:endParaRPr sz="26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</a:pPr>
            <a:r>
              <a:rPr lang="en-US" sz="900" b="0">
                <a:solidFill>
                  <a:srgbClr val="4A5568"/>
                </a:solidFill>
                <a:latin typeface="微软雅黑"/>
                <a:ea typeface="微软雅黑"/>
              </a:rPr>
              <a:t>7</a:t>
            </a: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en-US" sz="900">
                <a:solidFill>
                  <a:srgbClr val="4A5568"/>
                </a:solidFill>
                <a:latin typeface="微软雅黑"/>
                <a:ea typeface="微软雅黑"/>
                <a:sym typeface="+mn-ea"/>
              </a:rPr>
              <a:t>26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34440" y="845820"/>
            <a:ext cx="8397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系统整体架构：离线数据治理 + 在线分析检索 双阶段</a:t>
            </a:r>
            <a:endParaRPr lang="zh-CN" altLang="en-US" b="1"/>
          </a:p>
        </p:txBody>
      </p:sp>
      <p:sp>
        <p:nvSpPr>
          <p:cNvPr id="8" name="文本框 7"/>
          <p:cNvSpPr txBox="1"/>
          <p:nvPr/>
        </p:nvSpPr>
        <p:spPr>
          <a:xfrm>
            <a:off x="567055" y="1236345"/>
            <a:ext cx="11045190" cy="5538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700" b="1">
                <a:solidFill>
                  <a:srgbClr val="002060"/>
                </a:solidFill>
              </a:rPr>
              <a:t>1. 离线 Commit 采集模块 (collector/) </a:t>
            </a:r>
            <a:endParaRPr lang="zh-CN" altLang="en-US" sz="1700" b="1">
              <a:solidFill>
                <a:srgbClr val="002060"/>
              </a:solidFill>
            </a:endParaRPr>
          </a:p>
          <a:p>
            <a:r>
              <a:rPr lang="en-US" altLang="en-US" sz="1700"/>
              <a:t>(1)</a:t>
            </a:r>
            <a:r>
              <a:rPr lang="en-US" altLang="zh-CN" sz="1700"/>
              <a:t>PyDriller </a:t>
            </a:r>
            <a:r>
              <a:rPr lang="zh-CN" altLang="en-US" sz="1700"/>
              <a:t>流式遍历 </a:t>
            </a:r>
            <a:r>
              <a:rPr lang="en-US" altLang="zh-CN" sz="1700"/>
              <a:t>Linux Kernel Git </a:t>
            </a:r>
            <a:r>
              <a:rPr lang="zh-CN" altLang="en-US" sz="1700"/>
              <a:t>仓库，</a:t>
            </a:r>
            <a:r>
              <a:rPr lang="en-US" altLang="zh-CN" sz="1700"/>
              <a:t>O(1) </a:t>
            </a:r>
            <a:r>
              <a:rPr lang="zh-CN" altLang="en-US" sz="1700"/>
              <a:t>内存占用</a:t>
            </a:r>
            <a:endParaRPr lang="zh-CN" altLang="en-US" sz="1700"/>
          </a:p>
          <a:p>
            <a:r>
              <a:rPr lang="en-US" altLang="en-US" sz="1700"/>
              <a:t>(2)</a:t>
            </a:r>
            <a:r>
              <a:rPr lang="zh-CN" altLang="en-US" sz="1700"/>
              <a:t>结构化提取：</a:t>
            </a:r>
            <a:r>
              <a:rPr lang="en-US" altLang="zh-CN" sz="1700"/>
              <a:t>commit_id / subject / body / subsystem(28) / bug_type(21)</a:t>
            </a:r>
            <a:endParaRPr lang="en-US" altLang="zh-CN" sz="1700"/>
          </a:p>
          <a:p>
            <a:r>
              <a:rPr lang="en-US" altLang="en-US" sz="1700"/>
              <a:t>(3)</a:t>
            </a:r>
            <a:r>
              <a:rPr lang="zh-CN" altLang="en-US" sz="1700"/>
              <a:t>高级语义分析：锁/</a:t>
            </a:r>
            <a:r>
              <a:rPr lang="en-US" altLang="zh-CN" sz="1700"/>
              <a:t>RCU/refcount </a:t>
            </a:r>
            <a:r>
              <a:rPr lang="zh-CN" altLang="en-US" sz="1700"/>
              <a:t>模式检测（25条 </a:t>
            </a:r>
            <a:r>
              <a:rPr lang="en-US" altLang="zh-CN" sz="1700"/>
              <a:t>DIFF_RULES）</a:t>
            </a:r>
            <a:endParaRPr lang="en-US" altLang="zh-CN" sz="1700"/>
          </a:p>
          <a:p>
            <a:r>
              <a:rPr lang="en-US" altLang="en-US" sz="1700"/>
              <a:t>(4)</a:t>
            </a:r>
            <a:r>
              <a:rPr lang="en-US" altLang="zh-CN" sz="1700"/>
              <a:t>CommitRootCauseBuilder </a:t>
            </a:r>
            <a:r>
              <a:rPr lang="zh-CN" altLang="en-US" sz="1700"/>
              <a:t>轻量引擎：3层分析，3-5</a:t>
            </a:r>
            <a:r>
              <a:rPr lang="en-US" altLang="zh-CN" sz="1700"/>
              <a:t>ms/commit</a:t>
            </a:r>
            <a:endParaRPr lang="en-US" altLang="zh-CN" sz="1700"/>
          </a:p>
          <a:p>
            <a:r>
              <a:rPr lang="en-US" altLang="en-US" sz="1700"/>
              <a:t>(5)</a:t>
            </a:r>
            <a:r>
              <a:rPr lang="zh-CN" altLang="en-US" sz="1700"/>
              <a:t>支持断点续跑，145万+ </a:t>
            </a:r>
            <a:r>
              <a:rPr lang="en-US" altLang="zh-CN" sz="1700"/>
              <a:t>commit </a:t>
            </a:r>
            <a:r>
              <a:rPr lang="zh-CN" altLang="en-US" sz="1700"/>
              <a:t>全量索引可行</a:t>
            </a:r>
            <a:endParaRPr lang="zh-CN" altLang="en-US" sz="1700"/>
          </a:p>
          <a:p>
            <a:endParaRPr lang="zh-CN" altLang="en-US" sz="1700"/>
          </a:p>
          <a:p>
            <a:r>
              <a:rPr lang="zh-CN" altLang="en-US" sz="1700" b="1">
                <a:solidFill>
                  <a:srgbClr val="002060"/>
                </a:solidFill>
              </a:rPr>
              <a:t>2. 向量化与索引模块 (</a:t>
            </a:r>
            <a:r>
              <a:rPr lang="en-US" altLang="zh-CN" sz="1700" b="1">
                <a:solidFill>
                  <a:srgbClr val="002060"/>
                </a:solidFill>
              </a:rPr>
              <a:t>indexer/) </a:t>
            </a:r>
            <a:endParaRPr lang="zh-CN" altLang="en-US" sz="1700" b="1">
              <a:solidFill>
                <a:srgbClr val="002060"/>
              </a:solidFill>
            </a:endParaRPr>
          </a:p>
          <a:p>
            <a:r>
              <a:rPr lang="en-US" altLang="en-US" sz="1700"/>
              <a:t>(1)</a:t>
            </a:r>
            <a:r>
              <a:rPr lang="en-US" altLang="zh-CN" sz="1700"/>
              <a:t>BGE-M3 Embedding </a:t>
            </a:r>
            <a:r>
              <a:rPr lang="zh-CN" altLang="en-US" sz="1700"/>
              <a:t>编码（1024维，中英双语，8192 </a:t>
            </a:r>
            <a:r>
              <a:rPr lang="en-US" altLang="zh-CN" sz="1700"/>
              <a:t>tokens）</a:t>
            </a:r>
            <a:endParaRPr lang="en-US" altLang="zh-CN" sz="1700"/>
          </a:p>
          <a:p>
            <a:r>
              <a:rPr lang="en-US" altLang="en-US" sz="1700"/>
              <a:t>(2)</a:t>
            </a:r>
            <a:r>
              <a:rPr lang="en-US" altLang="zh-CN" sz="1700"/>
              <a:t>Milvus Lite + FAISS </a:t>
            </a:r>
            <a:r>
              <a:rPr lang="zh-CN" altLang="en-US" sz="1700"/>
              <a:t>双后端，自动降级</a:t>
            </a:r>
            <a:endParaRPr lang="zh-CN" altLang="en-US" sz="1700"/>
          </a:p>
          <a:p>
            <a:r>
              <a:rPr lang="en-US" altLang="en-US" sz="1700"/>
              <a:t>(3)</a:t>
            </a:r>
            <a:r>
              <a:rPr lang="zh-CN" altLang="en-US" sz="1700"/>
              <a:t>对称 </a:t>
            </a:r>
            <a:r>
              <a:rPr lang="en-US" altLang="zh-CN" sz="1700"/>
              <a:t>Root Cause Embedding </a:t>
            </a:r>
            <a:r>
              <a:rPr lang="zh-CN" altLang="en-US" sz="1700"/>
              <a:t>流水线（核心创新）</a:t>
            </a:r>
            <a:endParaRPr lang="zh-CN" altLang="en-US" sz="1700"/>
          </a:p>
          <a:p>
            <a:r>
              <a:rPr lang="en-US" altLang="zh-CN" sz="1700"/>
              <a:t>   (4)GPU </a:t>
            </a:r>
            <a:r>
              <a:rPr lang="zh-CN" altLang="en-US" sz="1700"/>
              <a:t>加速批量编码，全量索引 ~3.1</a:t>
            </a:r>
            <a:r>
              <a:rPr lang="en-US" altLang="zh-CN" sz="1700"/>
              <a:t>GB（312,632</a:t>
            </a:r>
            <a:r>
              <a:rPr lang="zh-CN" altLang="en-US" sz="1700"/>
              <a:t>条）</a:t>
            </a:r>
            <a:endParaRPr lang="zh-CN" altLang="en-US" sz="1700"/>
          </a:p>
          <a:p>
            <a:endParaRPr lang="zh-CN" altLang="en-US" sz="1700"/>
          </a:p>
          <a:p>
            <a:r>
              <a:rPr lang="zh-CN" altLang="en-US" sz="1700" b="1">
                <a:solidFill>
                  <a:srgbClr val="002060"/>
                </a:solidFill>
              </a:rPr>
              <a:t>3. 宕机分析模块 (analyzer/)</a:t>
            </a:r>
            <a:endParaRPr lang="zh-CN" altLang="en-US" sz="1700" b="1">
              <a:solidFill>
                <a:srgbClr val="002060"/>
              </a:solidFill>
            </a:endParaRPr>
          </a:p>
          <a:p>
            <a:r>
              <a:rPr lang="en-US" altLang="en-US" sz="1700"/>
              <a:t>(1)</a:t>
            </a:r>
            <a:r>
              <a:rPr lang="en-US" altLang="zh-CN" sz="1700"/>
              <a:t>dmesg </a:t>
            </a:r>
            <a:r>
              <a:rPr lang="zh-CN" altLang="en-US" sz="1700"/>
              <a:t>解析：20+ </a:t>
            </a:r>
            <a:r>
              <a:rPr lang="en-US" altLang="zh-CN" sz="1700"/>
              <a:t>Panic </a:t>
            </a:r>
            <a:r>
              <a:rPr lang="zh-CN" altLang="en-US" sz="1700"/>
              <a:t>模式正则 + </a:t>
            </a:r>
            <a:r>
              <a:rPr lang="en-US" altLang="zh-CN" sz="1700"/>
              <a:t>LLM </a:t>
            </a:r>
            <a:r>
              <a:rPr lang="zh-CN" altLang="en-US" sz="1700"/>
              <a:t>深度分析 + 多架构调用栈支持</a:t>
            </a:r>
            <a:endParaRPr lang="zh-CN" altLang="en-US" sz="1700"/>
          </a:p>
          <a:p>
            <a:r>
              <a:rPr lang="en-US" altLang="en-US" sz="1700"/>
              <a:t>(2)</a:t>
            </a:r>
            <a:r>
              <a:rPr lang="en-US" altLang="zh-CN" sz="1700"/>
              <a:t>vmcore </a:t>
            </a:r>
            <a:r>
              <a:rPr lang="zh-CN" altLang="en-US" sz="1700"/>
              <a:t>解析：</a:t>
            </a:r>
            <a:r>
              <a:rPr lang="en-US" altLang="zh-CN" sz="1700"/>
              <a:t>drgn </a:t>
            </a:r>
            <a:r>
              <a:rPr lang="zh-CN" altLang="en-US" sz="1700"/>
              <a:t>调试器集成，内核对象/寄存器/调用栈重建</a:t>
            </a:r>
            <a:endParaRPr lang="zh-CN" altLang="en-US" sz="1700"/>
          </a:p>
          <a:p>
            <a:r>
              <a:rPr lang="en-US" altLang="en-US" sz="1700"/>
              <a:t>(3)</a:t>
            </a:r>
            <a:r>
              <a:rPr lang="zh-CN" altLang="en-US" sz="1700"/>
              <a:t>根因抽象：28条专家规则 + 4层分层推断 + </a:t>
            </a:r>
            <a:r>
              <a:rPr lang="en-US" altLang="zh-CN" sz="1700"/>
              <a:t>LLM </a:t>
            </a:r>
            <a:r>
              <a:rPr lang="zh-CN" altLang="en-US" sz="1700"/>
              <a:t>协同推理</a:t>
            </a:r>
            <a:endParaRPr lang="zh-CN" altLang="en-US" sz="1700"/>
          </a:p>
          <a:p>
            <a:r>
              <a:rPr lang="en-US" altLang="en-US" sz="1700"/>
              <a:t>(4)</a:t>
            </a:r>
            <a:r>
              <a:rPr lang="zh-CN" altLang="en-US" sz="1700"/>
              <a:t>支持 3 种宕机类型：</a:t>
            </a:r>
            <a:r>
              <a:rPr lang="en-US" altLang="zh-CN" sz="1700"/>
              <a:t>hardlockup / hungtask / memory_error</a:t>
            </a:r>
            <a:endParaRPr lang="en-US" altLang="zh-CN" sz="1700"/>
          </a:p>
          <a:p>
            <a:endParaRPr lang="zh-CN" altLang="en-US" sz="1700"/>
          </a:p>
          <a:p>
            <a:endParaRPr lang="zh-CN" altLang="en-US" sz="17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3</a:t>
            </a:r>
            <a:endParaRPr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2004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lang="zh-CN" altLang="en-US" sz="2600" b="1">
                <a:solidFill>
                  <a:srgbClr val="0F1B2D"/>
                </a:solidFill>
                <a:latin typeface="微软雅黑"/>
                <a:ea typeface="微软雅黑"/>
                <a:sym typeface="+mn-ea"/>
              </a:rPr>
              <a:t>核心模块开发进展</a:t>
            </a:r>
            <a:endParaRPr lang="zh-CN" altLang="en-US" sz="2600" b="1">
              <a:solidFill>
                <a:srgbClr val="0F1B2D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</a:pPr>
            <a:endParaRPr sz="26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</a:pPr>
            <a:r>
              <a:rPr lang="en-US" sz="900" b="0">
                <a:solidFill>
                  <a:srgbClr val="4A5568"/>
                </a:solidFill>
                <a:latin typeface="微软雅黑"/>
                <a:ea typeface="微软雅黑"/>
              </a:rPr>
              <a:t>8</a:t>
            </a: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en-US" sz="900">
                <a:solidFill>
                  <a:srgbClr val="4A5568"/>
                </a:solidFill>
                <a:latin typeface="微软雅黑"/>
                <a:ea typeface="微软雅黑"/>
                <a:sym typeface="+mn-ea"/>
              </a:rPr>
              <a:t>26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34440" y="845820"/>
            <a:ext cx="8397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系统整体架构：离线数据治理 + 在线分析检索 双阶段</a:t>
            </a:r>
            <a:endParaRPr lang="zh-CN" altLang="en-US" b="1"/>
          </a:p>
        </p:txBody>
      </p:sp>
      <p:sp>
        <p:nvSpPr>
          <p:cNvPr id="8" name="文本框 7"/>
          <p:cNvSpPr txBox="1"/>
          <p:nvPr/>
        </p:nvSpPr>
        <p:spPr>
          <a:xfrm>
            <a:off x="567055" y="1236345"/>
            <a:ext cx="11045190" cy="5538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700" b="1">
                <a:solidFill>
                  <a:srgbClr val="002060"/>
                </a:solidFill>
              </a:rPr>
              <a:t>4. 检索匹配模块 (retriever/)  </a:t>
            </a:r>
            <a:endParaRPr lang="zh-CN" altLang="en-US" sz="1700" b="1">
              <a:solidFill>
                <a:srgbClr val="002060"/>
              </a:solidFill>
            </a:endParaRPr>
          </a:p>
          <a:p>
            <a:r>
              <a:rPr lang="en-US" altLang="en-US" sz="1700"/>
              <a:t>(1)</a:t>
            </a:r>
            <a:r>
              <a:rPr lang="zh-CN" altLang="en-US" sz="1700"/>
              <a:t>四阶段级联检索：</a:t>
            </a:r>
            <a:r>
              <a:rPr lang="en-US" altLang="zh-CN" sz="1700"/>
              <a:t>Recall(Top-100) → Filter → Rerank → LLM Judge(Top-3~5)</a:t>
            </a:r>
            <a:endParaRPr lang="en-US" altLang="zh-CN" sz="1700"/>
          </a:p>
          <a:p>
            <a:r>
              <a:rPr lang="en-US" altLang="en-US" sz="1700"/>
              <a:t>(2)</a:t>
            </a:r>
            <a:r>
              <a:rPr lang="en-US" altLang="zh-CN" sz="1700"/>
              <a:t>BGE-Reranker-v2 Cross-encoder </a:t>
            </a:r>
            <a:r>
              <a:rPr lang="zh-CN" altLang="en-US" sz="1700"/>
              <a:t>深度语义匹配</a:t>
            </a:r>
            <a:endParaRPr lang="zh-CN" altLang="en-US" sz="1700"/>
          </a:p>
          <a:p>
            <a:r>
              <a:rPr lang="en-US" altLang="en-US" sz="1700"/>
              <a:t>(3)</a:t>
            </a:r>
            <a:r>
              <a:rPr lang="zh-CN" altLang="en-US" sz="1700"/>
              <a:t>子系统/版本/类型规则过滤 + 7维度评分拆解</a:t>
            </a:r>
            <a:endParaRPr lang="zh-CN" altLang="en-US" sz="1700"/>
          </a:p>
          <a:p>
            <a:r>
              <a:rPr lang="en-US" altLang="en-US" sz="1700"/>
              <a:t>(4)</a:t>
            </a:r>
            <a:r>
              <a:rPr lang="en-US" altLang="zh-CN" sz="1700"/>
              <a:t>fast(&lt;100ms) / standard(&lt;1s) / deep(2-10s) </a:t>
            </a:r>
            <a:r>
              <a:rPr lang="zh-CN" altLang="en-US" sz="1700"/>
              <a:t>三种检索模式</a:t>
            </a:r>
            <a:endParaRPr lang="zh-CN" altLang="en-US" sz="1700"/>
          </a:p>
          <a:p>
            <a:endParaRPr lang="zh-CN" altLang="en-US" sz="1700"/>
          </a:p>
          <a:p>
            <a:r>
              <a:rPr lang="zh-CN" altLang="en-US" sz="1700" b="1">
                <a:solidFill>
                  <a:srgbClr val="002060"/>
                </a:solidFill>
              </a:rPr>
              <a:t>5. 报告生成模块 (generator/) </a:t>
            </a:r>
            <a:endParaRPr lang="zh-CN" altLang="en-US" sz="1700" b="1">
              <a:solidFill>
                <a:srgbClr val="002060"/>
              </a:solidFill>
            </a:endParaRPr>
          </a:p>
          <a:p>
            <a:r>
              <a:rPr lang="en-US" altLang="en-US" sz="1700"/>
              <a:t>(1)</a:t>
            </a:r>
            <a:r>
              <a:rPr lang="en-US" altLang="zh-CN" sz="1700"/>
              <a:t>DeepSeek / Qwen / OpenAI </a:t>
            </a:r>
            <a:r>
              <a:rPr lang="zh-CN" altLang="en-US" sz="1700"/>
              <a:t>统一 </a:t>
            </a:r>
            <a:r>
              <a:rPr lang="en-US" altLang="zh-CN" sz="1700"/>
              <a:t>LLM </a:t>
            </a:r>
            <a:r>
              <a:rPr lang="zh-CN" altLang="en-US" sz="1700"/>
              <a:t>接口 + </a:t>
            </a:r>
            <a:r>
              <a:rPr lang="en-US" altLang="zh-CN" sz="1700"/>
              <a:t>Ollama </a:t>
            </a:r>
            <a:r>
              <a:rPr lang="zh-CN" altLang="en-US" sz="1700"/>
              <a:t>本地模型</a:t>
            </a:r>
            <a:endParaRPr lang="zh-CN" altLang="en-US" sz="1700"/>
          </a:p>
          <a:p>
            <a:r>
              <a:rPr lang="en-US" altLang="en-US" sz="1700"/>
              <a:t>(2)</a:t>
            </a:r>
            <a:r>
              <a:rPr lang="zh-CN" altLang="en-US" sz="1700"/>
              <a:t>场景化 </a:t>
            </a:r>
            <a:r>
              <a:rPr lang="en-US" altLang="zh-CN" sz="1700"/>
              <a:t>Prompt </a:t>
            </a:r>
            <a:r>
              <a:rPr lang="zh-CN" altLang="en-US" sz="1700"/>
              <a:t>模板 + </a:t>
            </a:r>
            <a:r>
              <a:rPr lang="en-US" altLang="zh-CN" sz="1700"/>
              <a:t>Few-shot </a:t>
            </a:r>
            <a:r>
              <a:rPr lang="zh-CN" altLang="en-US" sz="1700"/>
              <a:t>示例 + 防幻觉约束</a:t>
            </a:r>
            <a:endParaRPr lang="zh-CN" altLang="en-US" sz="1700"/>
          </a:p>
          <a:p>
            <a:r>
              <a:rPr lang="en-US" altLang="en-US" sz="1700"/>
              <a:t>(3)</a:t>
            </a:r>
            <a:r>
              <a:rPr lang="en-US" altLang="zh-CN" sz="1700"/>
              <a:t>Markdown / JSON </a:t>
            </a:r>
            <a:r>
              <a:rPr lang="zh-CN" altLang="en-US" sz="1700"/>
              <a:t>报告格式化 + 因果推理链 + 置信度评分</a:t>
            </a:r>
            <a:endParaRPr lang="zh-CN" altLang="en-US" sz="1700"/>
          </a:p>
          <a:p>
            <a:r>
              <a:rPr lang="en-US" altLang="en-US" sz="1700"/>
              <a:t>(4)</a:t>
            </a:r>
            <a:r>
              <a:rPr lang="zh-CN" altLang="en-US" sz="1700"/>
              <a:t>支持用户自备 </a:t>
            </a:r>
            <a:r>
              <a:rPr lang="en-US" altLang="zh-CN" sz="1700"/>
              <a:t>API Key </a:t>
            </a:r>
            <a:r>
              <a:rPr lang="zh-CN" altLang="en-US" sz="1700"/>
              <a:t>或免费 </a:t>
            </a:r>
            <a:r>
              <a:rPr lang="en-US" altLang="zh-CN" sz="1700"/>
              <a:t>Ollama </a:t>
            </a:r>
            <a:r>
              <a:rPr lang="zh-CN" altLang="en-US" sz="1700"/>
              <a:t>本地模型</a:t>
            </a:r>
            <a:endParaRPr lang="zh-CN" altLang="en-US" sz="1700"/>
          </a:p>
          <a:p>
            <a:endParaRPr lang="en-US" altLang="zh-CN" sz="1700"/>
          </a:p>
          <a:p>
            <a:r>
              <a:rPr lang="zh-CN" altLang="en-US" sz="1700" b="1">
                <a:solidFill>
                  <a:srgbClr val="002060"/>
                </a:solidFill>
              </a:rPr>
              <a:t>6. 知识库模块 (knowledge/) </a:t>
            </a:r>
            <a:endParaRPr lang="zh-CN" altLang="en-US" sz="1700" b="1">
              <a:solidFill>
                <a:srgbClr val="002060"/>
              </a:solidFill>
            </a:endParaRPr>
          </a:p>
          <a:p>
            <a:r>
              <a:rPr lang="en-US" altLang="en-US" sz="1700"/>
              <a:t>(1)10</a:t>
            </a:r>
            <a:r>
              <a:rPr lang="zh-CN" altLang="en-US" sz="1700"/>
              <a:t>种 </a:t>
            </a:r>
            <a:r>
              <a:rPr lang="en-US" altLang="zh-CN" sz="1700"/>
              <a:t>Bug </a:t>
            </a:r>
            <a:r>
              <a:rPr lang="zh-CN" altLang="en-US" sz="1700"/>
              <a:t>模式知识图谱（症状 → 根因 → 修复模式 → 检测工具）</a:t>
            </a:r>
            <a:endParaRPr lang="zh-CN" altLang="en-US" sz="1700"/>
          </a:p>
          <a:p>
            <a:r>
              <a:rPr lang="en-US" altLang="en-US" sz="1700"/>
              <a:t>(2)6</a:t>
            </a:r>
            <a:r>
              <a:rPr lang="zh-CN" altLang="en-US" sz="1700"/>
              <a:t>种锁类型 + 5种死锁模式 + 8条锁排序规则</a:t>
            </a:r>
            <a:endParaRPr lang="zh-CN" altLang="en-US" sz="1700"/>
          </a:p>
          <a:p>
            <a:r>
              <a:rPr lang="en-US" altLang="en-US" sz="1700"/>
              <a:t>(3)12</a:t>
            </a:r>
            <a:r>
              <a:rPr lang="zh-CN" altLang="en-US" sz="1700"/>
              <a:t>个子系统交互关系图（层级/耦合/调用）</a:t>
            </a:r>
            <a:endParaRPr lang="zh-CN" altLang="en-US" sz="17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3</a:t>
            </a:r>
            <a:endParaRPr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2004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lang="zh-CN" altLang="en-US" sz="2600" b="1">
                <a:solidFill>
                  <a:srgbClr val="0F1B2D"/>
                </a:solidFill>
                <a:latin typeface="微软雅黑"/>
                <a:ea typeface="微软雅黑"/>
                <a:sym typeface="+mn-ea"/>
              </a:rPr>
              <a:t>核心模块开发进展</a:t>
            </a:r>
            <a:endParaRPr lang="zh-CN" altLang="en-US" sz="2600" b="1">
              <a:solidFill>
                <a:srgbClr val="0F1B2D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</a:pPr>
            <a:endParaRPr sz="26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</a:pPr>
            <a:r>
              <a:rPr lang="en-US" sz="900" b="0">
                <a:solidFill>
                  <a:srgbClr val="4A5568"/>
                </a:solidFill>
                <a:latin typeface="微软雅黑"/>
                <a:ea typeface="微软雅黑"/>
              </a:rPr>
              <a:t>9</a:t>
            </a: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en-US" sz="900">
                <a:solidFill>
                  <a:srgbClr val="4A5568"/>
                </a:solidFill>
                <a:latin typeface="微软雅黑"/>
                <a:ea typeface="微软雅黑"/>
                <a:sym typeface="+mn-ea"/>
              </a:rPr>
              <a:t>26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34440" y="845820"/>
            <a:ext cx="8397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系统整体架构：离线数据治理 + 在线分析检索 双阶段</a:t>
            </a:r>
            <a:endParaRPr lang="zh-CN" altLang="en-US" b="1"/>
          </a:p>
        </p:txBody>
      </p:sp>
      <p:sp>
        <p:nvSpPr>
          <p:cNvPr id="8" name="文本框 7"/>
          <p:cNvSpPr txBox="1"/>
          <p:nvPr/>
        </p:nvSpPr>
        <p:spPr>
          <a:xfrm>
            <a:off x="567055" y="1236345"/>
            <a:ext cx="11045190" cy="5538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700" b="1">
                <a:solidFill>
                  <a:srgbClr val="002060"/>
                </a:solidFill>
              </a:rPr>
              <a:t>7. 前端界面 (frontend/) </a:t>
            </a:r>
            <a:endParaRPr lang="zh-CN" altLang="en-US" sz="1700" b="1">
              <a:solidFill>
                <a:srgbClr val="002060"/>
              </a:solidFill>
            </a:endParaRPr>
          </a:p>
          <a:p>
            <a:r>
              <a:rPr lang="en-US" altLang="en-US" sz="1700"/>
              <a:t>(1)</a:t>
            </a:r>
            <a:r>
              <a:rPr lang="en-US" altLang="zh-CN" sz="1700"/>
              <a:t>Vue 3 + Element Plus + ECharts，</a:t>
            </a:r>
            <a:r>
              <a:rPr lang="zh-CN" altLang="en-US" sz="1700"/>
              <a:t>暗色专业主题</a:t>
            </a:r>
            <a:endParaRPr lang="zh-CN" altLang="en-US" sz="1700"/>
          </a:p>
          <a:p>
            <a:r>
              <a:rPr lang="en-US" altLang="en-US" sz="1700"/>
              <a:t>(2)4</a:t>
            </a:r>
            <a:r>
              <a:rPr lang="zh-CN" altLang="en-US" sz="1700"/>
              <a:t>个核心页面：</a:t>
            </a:r>
            <a:r>
              <a:rPr lang="en-US" altLang="zh-CN" sz="1700"/>
              <a:t>Dashboard / CrashAnalysis / KnowledgeBase / History</a:t>
            </a:r>
            <a:endParaRPr lang="en-US" altLang="zh-CN" sz="1700"/>
          </a:p>
          <a:p>
            <a:r>
              <a:rPr lang="en-US" altLang="en-US" sz="1700"/>
              <a:t>(3)</a:t>
            </a:r>
            <a:r>
              <a:rPr lang="zh-CN" altLang="en-US" sz="1700"/>
              <a:t>实时轮询分析状态（1.5</a:t>
            </a:r>
            <a:r>
              <a:rPr lang="en-US" altLang="zh-CN" sz="1700"/>
              <a:t>s</a:t>
            </a:r>
            <a:r>
              <a:rPr lang="zh-CN" altLang="en-US" sz="1700"/>
              <a:t>间隔），</a:t>
            </a:r>
            <a:r>
              <a:rPr lang="en-US" altLang="zh-CN" sz="1700"/>
              <a:t>Diff</a:t>
            </a:r>
            <a:r>
              <a:rPr lang="zh-CN" altLang="en-US" sz="1700"/>
              <a:t>语法高亮</a:t>
            </a:r>
            <a:endParaRPr lang="zh-CN" altLang="en-US" sz="1700"/>
          </a:p>
          <a:p>
            <a:r>
              <a:rPr lang="en-US" altLang="en-US" sz="1700"/>
              <a:t>(4)</a:t>
            </a:r>
            <a:r>
              <a:rPr lang="en-US" altLang="zh-CN" sz="1700"/>
              <a:t>Pinia </a:t>
            </a:r>
            <a:r>
              <a:rPr lang="zh-CN" altLang="en-US" sz="1700"/>
              <a:t>状态管理，</a:t>
            </a:r>
            <a:r>
              <a:rPr lang="en-US" altLang="zh-CN" sz="1700"/>
              <a:t>API</a:t>
            </a:r>
            <a:r>
              <a:rPr lang="zh-CN" altLang="en-US" sz="1700"/>
              <a:t>代理，响应式布局</a:t>
            </a:r>
            <a:endParaRPr lang="zh-CN" altLang="en-US" sz="1700"/>
          </a:p>
          <a:p>
            <a:endParaRPr lang="en-US" altLang="zh-CN" sz="1700"/>
          </a:p>
          <a:p>
            <a:r>
              <a:rPr lang="zh-CN" altLang="en-US" sz="1700" b="1">
                <a:solidFill>
                  <a:srgbClr val="002060"/>
                </a:solidFill>
              </a:rPr>
              <a:t>8. 部署与运维 (scripts/ / docker/)  </a:t>
            </a:r>
            <a:endParaRPr lang="zh-CN" altLang="en-US" sz="1700" b="1">
              <a:solidFill>
                <a:srgbClr val="002060"/>
              </a:solidFill>
            </a:endParaRPr>
          </a:p>
          <a:p>
            <a:r>
              <a:rPr lang="en-US" altLang="en-US" sz="1700"/>
              <a:t>(1)</a:t>
            </a:r>
            <a:r>
              <a:rPr lang="en-US" altLang="zh-CN" sz="1700"/>
              <a:t>Docker Compose </a:t>
            </a:r>
            <a:r>
              <a:rPr lang="zh-CN" altLang="en-US" sz="1700"/>
              <a:t>一键部署（</a:t>
            </a:r>
            <a:r>
              <a:rPr lang="en-US" altLang="zh-CN" sz="1700"/>
              <a:t>App + Milvus + Redis）</a:t>
            </a:r>
            <a:endParaRPr lang="en-US" altLang="zh-CN" sz="1700"/>
          </a:p>
          <a:p>
            <a:r>
              <a:rPr lang="en-US" altLang="en-US" sz="1700"/>
              <a:t>(2)</a:t>
            </a:r>
            <a:r>
              <a:rPr lang="en-US" altLang="zh-CN" sz="1700"/>
              <a:t>Demo</a:t>
            </a:r>
            <a:r>
              <a:rPr lang="zh-CN" altLang="en-US" sz="1700"/>
              <a:t>数据模式（9,990条）与全量数据模式（312,632条）</a:t>
            </a:r>
            <a:endParaRPr lang="zh-CN" altLang="en-US" sz="1700"/>
          </a:p>
          <a:p>
            <a:r>
              <a:rPr lang="en-US" altLang="en-US" sz="1700"/>
              <a:t>(3)123</a:t>
            </a:r>
            <a:r>
              <a:rPr lang="zh-CN" altLang="en-US" sz="1700"/>
              <a:t>云盘全量数据库直链下载 + 一键部署脚本</a:t>
            </a:r>
            <a:endParaRPr lang="zh-CN" altLang="en-US" sz="1700"/>
          </a:p>
          <a:p>
            <a:r>
              <a:rPr lang="en-US" altLang="en-US" sz="1700"/>
              <a:t>(4)</a:t>
            </a:r>
            <a:r>
              <a:rPr lang="zh-CN" altLang="en-US" sz="1700"/>
              <a:t>三级自动降级：</a:t>
            </a:r>
            <a:r>
              <a:rPr lang="en-US" altLang="zh-CN" sz="1700"/>
              <a:t>Milvus→FAISS / API→Ollama / Embedding→Mock</a:t>
            </a:r>
            <a:endParaRPr lang="en-US" altLang="zh-CN" sz="17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微软雅黑"/>
              </a:rPr>
              <a:t>3</a:t>
            </a:r>
            <a:endParaRPr lang="en-US"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2004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lang="zh-CN" sz="2600" b="1">
                <a:solidFill>
                  <a:srgbClr val="0F1B2D"/>
                </a:solidFill>
                <a:latin typeface="微软雅黑"/>
                <a:ea typeface="微软雅黑"/>
              </a:rPr>
              <a:t>系统总</a:t>
            </a:r>
            <a:r>
              <a:rPr sz="2600" b="1">
                <a:solidFill>
                  <a:srgbClr val="0F1B2D"/>
                </a:solidFill>
                <a:latin typeface="微软雅黑"/>
                <a:ea typeface="微软雅黑"/>
              </a:rPr>
              <a:t>架构：离线治理 + 在线检索双阶段</a:t>
            </a:r>
            <a:endParaRPr sz="26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34440" y="77724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A5568"/>
                </a:solidFill>
                <a:latin typeface="Arial" panose="020B0604020202020204"/>
                <a:ea typeface="Arial" panose="020B0604020202020204"/>
              </a:rPr>
              <a:t>System Architecture: Offline Indexing + Online Retrieval</a:t>
            </a:r>
            <a:endParaRPr sz="1200" b="0">
              <a:solidFill>
                <a:srgbClr val="4A5568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5303520" cy="484632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E3A5F"/>
                </a:solidFill>
                <a:latin typeface="微软雅黑"/>
                <a:ea typeface="微软雅黑"/>
              </a:rPr>
              <a:t>🔵 离线阶段：Commit 知识库构建</a:t>
            </a:r>
            <a:endParaRPr sz="1500" b="1">
              <a:solidFill>
                <a:srgbClr val="1E3A5F"/>
              </a:solidFill>
              <a:latin typeface="微软雅黑"/>
              <a:ea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94360" y="2194560"/>
            <a:ext cx="9144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1E3A5F"/>
                </a:solidFill>
                <a:latin typeface="微软雅黑"/>
                <a:ea typeface="微软雅黑"/>
              </a:rPr>
              <a:t>Linux Kernel
Git Repo</a:t>
            </a:r>
            <a:endParaRPr sz="900" b="1">
              <a:solidFill>
                <a:srgbClr val="1E3A5F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2926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750" b="0">
                <a:solidFill>
                  <a:srgbClr val="4A5568"/>
                </a:solidFill>
                <a:latin typeface="微软雅黑"/>
                <a:ea typeface="微软雅黑"/>
              </a:rPr>
              <a:t>145万+ commits</a:t>
            </a:r>
            <a:endParaRPr sz="75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08760" y="2743200"/>
            <a:ext cx="137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E8792B"/>
                </a:solidFill>
                <a:latin typeface="微软雅黑"/>
                <a:ea typeface="微软雅黑"/>
              </a:rPr>
              <a:t>→</a:t>
            </a:r>
            <a:endParaRPr sz="1600" b="1">
              <a:solidFill>
                <a:srgbClr val="E8792B"/>
              </a:solidFill>
              <a:latin typeface="微软雅黑"/>
              <a:ea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645920" y="2194560"/>
            <a:ext cx="9144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228600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1E3A5F"/>
                </a:solidFill>
                <a:latin typeface="微软雅黑"/>
                <a:ea typeface="微软雅黑"/>
              </a:rPr>
              <a:t>PyDriller
流式遍历</a:t>
            </a:r>
            <a:endParaRPr sz="900" b="1">
              <a:solidFill>
                <a:srgbClr val="1E3A5F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45920" y="2926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750" b="0">
                <a:solidFill>
                  <a:srgbClr val="4A5568"/>
                </a:solidFill>
                <a:latin typeface="微软雅黑"/>
                <a:ea typeface="微软雅黑"/>
              </a:rPr>
              <a:t>O(1)内存</a:t>
            </a:r>
            <a:endParaRPr sz="75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60320" y="2743200"/>
            <a:ext cx="137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E8792B"/>
                </a:solidFill>
                <a:latin typeface="微软雅黑"/>
                <a:ea typeface="微软雅黑"/>
              </a:rPr>
              <a:t>→</a:t>
            </a:r>
            <a:endParaRPr sz="1600" b="1">
              <a:solidFill>
                <a:srgbClr val="E8792B"/>
              </a:solidFill>
              <a:latin typeface="微软雅黑"/>
              <a:ea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697480" y="2194560"/>
            <a:ext cx="9144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80" y="228600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1E3A5F"/>
                </a:solidFill>
                <a:latin typeface="微软雅黑"/>
                <a:ea typeface="微软雅黑"/>
              </a:rPr>
              <a:t>CommitRootCause
Builder</a:t>
            </a:r>
            <a:endParaRPr sz="900" b="1">
              <a:solidFill>
                <a:srgbClr val="1E3A5F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97480" y="2926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750" b="0">
                <a:solidFill>
                  <a:srgbClr val="4A5568"/>
                </a:solidFill>
                <a:latin typeface="微软雅黑"/>
                <a:ea typeface="微软雅黑"/>
              </a:rPr>
              <a:t>3-5ms/条</a:t>
            </a:r>
            <a:endParaRPr sz="75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11880" y="2743200"/>
            <a:ext cx="137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E8792B"/>
                </a:solidFill>
                <a:latin typeface="微软雅黑"/>
                <a:ea typeface="微软雅黑"/>
              </a:rPr>
              <a:t>→</a:t>
            </a:r>
            <a:endParaRPr sz="1600" b="1">
              <a:solidFill>
                <a:srgbClr val="E8792B"/>
              </a:solidFill>
              <a:latin typeface="微软雅黑"/>
              <a:ea typeface="微软雅黑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749040" y="2194560"/>
            <a:ext cx="9144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0" y="228600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1E3A5F"/>
                </a:solidFill>
                <a:latin typeface="微软雅黑"/>
                <a:ea typeface="微软雅黑"/>
              </a:rPr>
              <a:t>BGE-M3
向量编码</a:t>
            </a:r>
            <a:endParaRPr sz="900" b="1">
              <a:solidFill>
                <a:srgbClr val="1E3A5F"/>
              </a:solidFill>
              <a:latin typeface="微软雅黑"/>
              <a:ea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749040" y="2926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750" b="0">
                <a:solidFill>
                  <a:srgbClr val="4A5568"/>
                </a:solidFill>
                <a:latin typeface="微软雅黑"/>
                <a:ea typeface="微软雅黑"/>
              </a:rPr>
              <a:t>1024维</a:t>
            </a:r>
            <a:endParaRPr sz="75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63440" y="2743200"/>
            <a:ext cx="137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E8792B"/>
                </a:solidFill>
                <a:latin typeface="微软雅黑"/>
                <a:ea typeface="微软雅黑"/>
              </a:rPr>
              <a:t>→</a:t>
            </a:r>
            <a:endParaRPr sz="1600" b="1">
              <a:solidFill>
                <a:srgbClr val="E8792B"/>
              </a:solidFill>
              <a:latin typeface="微软雅黑"/>
              <a:ea typeface="微软雅黑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800600" y="2194560"/>
            <a:ext cx="9144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228600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1E3A5F"/>
                </a:solidFill>
                <a:latin typeface="微软雅黑"/>
                <a:ea typeface="微软雅黑"/>
              </a:rPr>
              <a:t>Milvus/FAISS
向量存储</a:t>
            </a:r>
            <a:endParaRPr sz="900" b="1">
              <a:solidFill>
                <a:srgbClr val="1E3A5F"/>
              </a:solidFill>
              <a:latin typeface="微软雅黑"/>
              <a:ea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800600" y="2926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750" b="0">
                <a:solidFill>
                  <a:srgbClr val="4A5568"/>
                </a:solidFill>
                <a:latin typeface="微软雅黑"/>
                <a:ea typeface="微软雅黑"/>
              </a:rPr>
              <a:t>全量索引</a:t>
            </a:r>
            <a:endParaRPr sz="75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0080" y="3931920"/>
            <a:ext cx="493776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lang="zh-CN" altLang="en-US" sz="1200" b="1">
                <a:solidFill>
                  <a:srgbClr val="4A5568"/>
                </a:solidFill>
                <a:latin typeface="微软雅黑"/>
                <a:ea typeface="微软雅黑"/>
              </a:rPr>
              <a:t>关键设计亮点</a:t>
            </a:r>
            <a:r>
              <a:rPr lang="zh-CN" altLang="en-US" sz="950" b="0">
                <a:solidFill>
                  <a:srgbClr val="4A5568"/>
                </a:solidFill>
                <a:latin typeface="微软雅黑"/>
                <a:ea typeface="微软雅黑"/>
              </a:rPr>
              <a:t>：</a:t>
            </a:r>
            <a:endParaRPr lang="zh-CN" altLang="en-US" sz="950" b="0">
              <a:solidFill>
                <a:srgbClr val="4A5568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</a:pPr>
            <a:endParaRPr lang="zh-CN" altLang="en-US" sz="950" b="0">
              <a:solidFill>
                <a:srgbClr val="4A5568"/>
              </a:solidFill>
              <a:latin typeface="微软雅黑"/>
              <a:ea typeface="微软雅黑"/>
            </a:endParaRPr>
          </a:p>
          <a:p>
            <a:pPr marL="171450" indent="-171450" algn="l">
              <a:lnSpc>
                <a:spcPct val="120000"/>
              </a:lnSpc>
              <a:buFont typeface="Wingdings" charset="0"/>
              <a:buChar char=""/>
            </a:pPr>
            <a:r>
              <a:rPr lang="zh-CN" altLang="en-US" sz="950" b="0">
                <a:solidFill>
                  <a:srgbClr val="4A5568"/>
                </a:solidFill>
                <a:latin typeface="微软雅黑"/>
                <a:ea typeface="微软雅黑"/>
              </a:rPr>
              <a:t>流式处理架构：基于生成器模式解析</a:t>
            </a:r>
            <a:r>
              <a:rPr lang="en-US" altLang="zh-CN" sz="950" b="0">
                <a:solidFill>
                  <a:srgbClr val="4A5568"/>
                </a:solidFill>
                <a:latin typeface="微软雅黑"/>
                <a:ea typeface="微软雅黑"/>
              </a:rPr>
              <a:t> Commit</a:t>
            </a:r>
            <a:r>
              <a:rPr lang="zh-CN" altLang="en-US" sz="950" b="0">
                <a:solidFill>
                  <a:srgbClr val="4A5568"/>
                </a:solidFill>
                <a:latin typeface="微软雅黑"/>
                <a:ea typeface="微软雅黑"/>
              </a:rPr>
              <a:t>，内存占用</a:t>
            </a:r>
            <a:r>
              <a:rPr lang="en-US" altLang="zh-CN" sz="950" b="0">
                <a:solidFill>
                  <a:srgbClr val="4A5568"/>
                </a:solidFill>
                <a:latin typeface="微软雅黑"/>
                <a:ea typeface="微软雅黑"/>
              </a:rPr>
              <a:t> O(1)</a:t>
            </a:r>
            <a:r>
              <a:rPr lang="zh-CN" altLang="en-US" sz="950" b="0">
                <a:solidFill>
                  <a:srgbClr val="4A5568"/>
                </a:solidFill>
                <a:latin typeface="微软雅黑"/>
                <a:ea typeface="微软雅黑"/>
              </a:rPr>
              <a:t>，支持百万级数据处理</a:t>
            </a:r>
            <a:endParaRPr lang="zh-CN" altLang="en-US" sz="950" b="0">
              <a:solidFill>
                <a:srgbClr val="4A5568"/>
              </a:solidFill>
              <a:latin typeface="微软雅黑"/>
              <a:ea typeface="微软雅黑"/>
            </a:endParaRPr>
          </a:p>
          <a:p>
            <a:pPr marL="171450" indent="-171450" algn="l">
              <a:lnSpc>
                <a:spcPct val="120000"/>
              </a:lnSpc>
              <a:buFont typeface="Wingdings" charset="0"/>
              <a:buChar char=""/>
            </a:pPr>
            <a:r>
              <a:rPr lang="zh-CN" altLang="en-US" sz="950" b="0">
                <a:solidFill>
                  <a:srgbClr val="4A5568"/>
                </a:solidFill>
                <a:latin typeface="微软雅黑"/>
                <a:ea typeface="微软雅黑"/>
              </a:rPr>
              <a:t>规则驱动特征抽取：内置</a:t>
            </a:r>
            <a:r>
              <a:rPr lang="en-US" altLang="zh-CN" sz="950" b="0">
                <a:solidFill>
                  <a:srgbClr val="4A5568"/>
                </a:solidFill>
                <a:latin typeface="微软雅黑"/>
                <a:ea typeface="微软雅黑"/>
              </a:rPr>
              <a:t> 25 </a:t>
            </a:r>
            <a:r>
              <a:rPr lang="zh-CN" altLang="en-US" sz="950" b="0">
                <a:solidFill>
                  <a:srgbClr val="4A5568"/>
                </a:solidFill>
                <a:latin typeface="微软雅黑"/>
                <a:ea typeface="微软雅黑"/>
              </a:rPr>
              <a:t>条</a:t>
            </a:r>
            <a:r>
              <a:rPr lang="en-US" altLang="zh-CN" sz="950" b="0">
                <a:solidFill>
                  <a:srgbClr val="4A5568"/>
                </a:solidFill>
                <a:latin typeface="微软雅黑"/>
                <a:ea typeface="微软雅黑"/>
              </a:rPr>
              <a:t> DIFF_RULES</a:t>
            </a:r>
            <a:r>
              <a:rPr lang="zh-CN" altLang="en-US" sz="950" b="0">
                <a:solidFill>
                  <a:srgbClr val="4A5568"/>
                </a:solidFill>
                <a:latin typeface="微软雅黑"/>
                <a:ea typeface="微软雅黑"/>
              </a:rPr>
              <a:t>（锁</a:t>
            </a:r>
            <a:r>
              <a:rPr lang="en-US" altLang="zh-CN" sz="950" b="0">
                <a:solidFill>
                  <a:srgbClr val="4A5568"/>
                </a:solidFill>
                <a:latin typeface="微软雅黑"/>
                <a:ea typeface="微软雅黑"/>
              </a:rPr>
              <a:t> / RCU / </a:t>
            </a:r>
            <a:r>
              <a:rPr lang="zh-CN" altLang="en-US" sz="950" b="0">
                <a:solidFill>
                  <a:srgbClr val="4A5568"/>
                </a:solidFill>
                <a:latin typeface="微软雅黑"/>
                <a:ea typeface="微软雅黑"/>
              </a:rPr>
              <a:t>内存</a:t>
            </a:r>
            <a:r>
              <a:rPr lang="en-US" altLang="zh-CN" sz="950" b="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zh-CN" altLang="en-US" sz="950" b="0">
                <a:solidFill>
                  <a:srgbClr val="4A5568"/>
                </a:solidFill>
                <a:latin typeface="微软雅黑"/>
                <a:ea typeface="微软雅黑"/>
              </a:rPr>
              <a:t>引用计数等内核关键机制）</a:t>
            </a:r>
            <a:endParaRPr lang="zh-CN" altLang="en-US" sz="950" b="0">
              <a:solidFill>
                <a:srgbClr val="4A5568"/>
              </a:solidFill>
              <a:latin typeface="微软雅黑"/>
              <a:ea typeface="微软雅黑"/>
            </a:endParaRPr>
          </a:p>
          <a:p>
            <a:pPr marL="171450" indent="-171450" algn="l">
              <a:lnSpc>
                <a:spcPct val="120000"/>
              </a:lnSpc>
              <a:buFont typeface="Wingdings" charset="0"/>
              <a:buChar char=""/>
            </a:pPr>
            <a:r>
              <a:rPr lang="zh-CN" altLang="en-US" sz="950" b="0">
                <a:solidFill>
                  <a:srgbClr val="4A5568"/>
                </a:solidFill>
                <a:latin typeface="微软雅黑"/>
                <a:ea typeface="微软雅黑"/>
              </a:rPr>
              <a:t>结构化增强规则集</a:t>
            </a:r>
            <a:endParaRPr lang="zh-CN" altLang="en-US" sz="950" b="0">
              <a:solidFill>
                <a:srgbClr val="4A5568"/>
              </a:solidFill>
              <a:latin typeface="微软雅黑"/>
              <a:ea typeface="微软雅黑"/>
            </a:endParaRPr>
          </a:p>
          <a:p>
            <a:pPr marL="171450" indent="-171450" algn="l">
              <a:lnSpc>
                <a:spcPct val="120000"/>
              </a:lnSpc>
              <a:buFont typeface="Wingdings" charset="0"/>
              <a:buChar char=""/>
            </a:pPr>
            <a:r>
              <a:rPr lang="en-US" altLang="zh-CN" sz="950" b="0">
                <a:solidFill>
                  <a:srgbClr val="4A5568"/>
                </a:solidFill>
                <a:latin typeface="微软雅黑"/>
                <a:ea typeface="微软雅黑"/>
              </a:rPr>
              <a:t>8 </a:t>
            </a:r>
            <a:r>
              <a:rPr lang="zh-CN" altLang="en-US" sz="950" b="0">
                <a:solidFill>
                  <a:srgbClr val="4A5568"/>
                </a:solidFill>
                <a:latin typeface="微软雅黑"/>
                <a:ea typeface="微软雅黑"/>
              </a:rPr>
              <a:t>条锁相关规则（死锁</a:t>
            </a:r>
            <a:r>
              <a:rPr lang="en-US" altLang="zh-CN" sz="950" b="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zh-CN" altLang="en-US" sz="950" b="0">
                <a:solidFill>
                  <a:srgbClr val="4A5568"/>
                </a:solidFill>
                <a:latin typeface="微软雅黑"/>
                <a:ea typeface="微软雅黑"/>
              </a:rPr>
              <a:t>竞态</a:t>
            </a:r>
            <a:r>
              <a:rPr lang="en-US" altLang="zh-CN" sz="950" b="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zh-CN" altLang="en-US" sz="950" b="0">
                <a:solidFill>
                  <a:srgbClr val="4A5568"/>
                </a:solidFill>
                <a:latin typeface="微软雅黑"/>
                <a:ea typeface="微软雅黑"/>
              </a:rPr>
              <a:t>未释放锁等）</a:t>
            </a:r>
            <a:endParaRPr lang="zh-CN" altLang="en-US" sz="950" b="0">
              <a:solidFill>
                <a:srgbClr val="4A5568"/>
              </a:solidFill>
              <a:latin typeface="微软雅黑"/>
              <a:ea typeface="微软雅黑"/>
            </a:endParaRPr>
          </a:p>
          <a:p>
            <a:pPr marL="171450" indent="-171450" algn="l">
              <a:lnSpc>
                <a:spcPct val="120000"/>
              </a:lnSpc>
              <a:buFont typeface="Wingdings" charset="0"/>
              <a:buChar char=""/>
            </a:pPr>
            <a:r>
              <a:rPr lang="en-US" altLang="zh-CN" sz="950" b="0">
                <a:solidFill>
                  <a:srgbClr val="4A5568"/>
                </a:solidFill>
                <a:latin typeface="微软雅黑"/>
                <a:ea typeface="微软雅黑"/>
              </a:rPr>
              <a:t>4 </a:t>
            </a:r>
            <a:r>
              <a:rPr lang="zh-CN" altLang="en-US" sz="950" b="0">
                <a:solidFill>
                  <a:srgbClr val="4A5568"/>
                </a:solidFill>
                <a:latin typeface="微软雅黑"/>
                <a:ea typeface="微软雅黑"/>
              </a:rPr>
              <a:t>条引用计数规则（</a:t>
            </a:r>
            <a:r>
              <a:rPr lang="en-US" altLang="zh-CN" sz="950" b="0">
                <a:solidFill>
                  <a:srgbClr val="4A5568"/>
                </a:solidFill>
                <a:latin typeface="微软雅黑"/>
                <a:ea typeface="微软雅黑"/>
              </a:rPr>
              <a:t>use-after-free </a:t>
            </a:r>
            <a:r>
              <a:rPr lang="zh-CN" altLang="en-US" sz="950" b="0">
                <a:solidFill>
                  <a:srgbClr val="4A5568"/>
                </a:solidFill>
                <a:latin typeface="微软雅黑"/>
                <a:ea typeface="微软雅黑"/>
              </a:rPr>
              <a:t>前置信号）</a:t>
            </a:r>
            <a:endParaRPr lang="zh-CN" altLang="en-US" sz="950" b="0">
              <a:solidFill>
                <a:srgbClr val="4A5568"/>
              </a:solidFill>
              <a:latin typeface="微软雅黑"/>
              <a:ea typeface="微软雅黑"/>
            </a:endParaRPr>
          </a:p>
          <a:p>
            <a:pPr marL="171450" indent="-171450" algn="l">
              <a:lnSpc>
                <a:spcPct val="120000"/>
              </a:lnSpc>
              <a:buFont typeface="Wingdings" charset="0"/>
              <a:buChar char=""/>
            </a:pPr>
            <a:r>
              <a:rPr lang="zh-CN" altLang="en-US" sz="950" b="0">
                <a:solidFill>
                  <a:srgbClr val="4A5568"/>
                </a:solidFill>
                <a:latin typeface="微软雅黑"/>
                <a:ea typeface="微软雅黑"/>
              </a:rPr>
              <a:t>内核版本标注与演化信息融合</a:t>
            </a:r>
            <a:endParaRPr lang="zh-CN" altLang="en-US" sz="950" b="0">
              <a:solidFill>
                <a:srgbClr val="4A5568"/>
              </a:solidFill>
              <a:latin typeface="微软雅黑"/>
              <a:ea typeface="微软雅黑"/>
            </a:endParaRPr>
          </a:p>
          <a:p>
            <a:pPr marL="171450" indent="-171450" algn="l">
              <a:lnSpc>
                <a:spcPct val="120000"/>
              </a:lnSpc>
              <a:buFont typeface="Wingdings" charset="0"/>
              <a:buChar char=""/>
            </a:pPr>
            <a:r>
              <a:rPr lang="zh-CN" altLang="en-US" sz="950" b="0">
                <a:solidFill>
                  <a:srgbClr val="4A5568"/>
                </a:solidFill>
                <a:latin typeface="微软雅黑"/>
                <a:ea typeface="微软雅黑"/>
              </a:rPr>
              <a:t>断点续跑能力：支持中断恢复，保障大规模构建稳定性</a:t>
            </a:r>
            <a:endParaRPr lang="zh-CN" altLang="en-US" sz="950" b="0">
              <a:solidFill>
                <a:srgbClr val="4A5568"/>
              </a:solidFill>
              <a:latin typeface="微软雅黑"/>
              <a:ea typeface="微软雅黑"/>
            </a:endParaRPr>
          </a:p>
          <a:p>
            <a:pPr marL="171450" indent="-171450" algn="l">
              <a:lnSpc>
                <a:spcPct val="120000"/>
              </a:lnSpc>
              <a:buFont typeface="Wingdings" charset="0"/>
              <a:buChar char=""/>
            </a:pPr>
            <a:r>
              <a:rPr lang="zh-CN" altLang="en-US" sz="950" b="0">
                <a:solidFill>
                  <a:srgbClr val="4A5568"/>
                </a:solidFill>
                <a:latin typeface="微软雅黑"/>
                <a:ea typeface="微软雅黑"/>
              </a:rPr>
              <a:t>全量向量索引支持：为百万级</a:t>
            </a:r>
            <a:r>
              <a:rPr lang="en-US" altLang="zh-CN" sz="950" b="0">
                <a:solidFill>
                  <a:srgbClr val="4A5568"/>
                </a:solidFill>
                <a:latin typeface="微软雅黑"/>
                <a:ea typeface="微软雅黑"/>
              </a:rPr>
              <a:t> Commit </a:t>
            </a:r>
            <a:r>
              <a:rPr lang="zh-CN" altLang="en-US" sz="950" b="0">
                <a:solidFill>
                  <a:srgbClr val="4A5568"/>
                </a:solidFill>
                <a:latin typeface="微软雅黑"/>
                <a:ea typeface="微软雅黑"/>
              </a:rPr>
              <a:t>提供高效语义检索能力</a:t>
            </a:r>
            <a:endParaRPr lang="zh-CN" altLang="en-US" sz="95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217920" y="1463040"/>
            <a:ext cx="5486400" cy="4846320"/>
          </a:xfrm>
          <a:prstGeom prst="roundRect">
            <a:avLst/>
          </a:prstGeom>
          <a:solidFill>
            <a:srgbClr val="FF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E8792B"/>
                </a:solidFill>
                <a:latin typeface="微软雅黑"/>
                <a:ea typeface="微软雅黑"/>
              </a:rPr>
              <a:t>🟠 在线阶段：宕机诊断与补丁匹配</a:t>
            </a:r>
            <a:endParaRPr sz="1500" b="1">
              <a:solidFill>
                <a:srgbClr val="E8792B"/>
              </a:solidFill>
              <a:latin typeface="微软雅黑"/>
              <a:ea typeface="微软雅黑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400800" y="2194560"/>
            <a:ext cx="9601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286000"/>
            <a:ext cx="960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E8792B"/>
                </a:solidFill>
                <a:latin typeface="微软雅黑"/>
                <a:ea typeface="微软雅黑"/>
              </a:rPr>
              <a:t>dmesg/vmcore
问题描述</a:t>
            </a:r>
            <a:endParaRPr sz="900" b="1">
              <a:solidFill>
                <a:srgbClr val="E8792B"/>
              </a:solidFill>
              <a:latin typeface="微软雅黑"/>
              <a:ea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00800" y="2926080"/>
            <a:ext cx="960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750" b="0">
                <a:solidFill>
                  <a:srgbClr val="4A5568"/>
                </a:solidFill>
                <a:latin typeface="微软雅黑"/>
                <a:ea typeface="微软雅黑"/>
              </a:rPr>
              <a:t>多模态输入</a:t>
            </a:r>
            <a:endParaRPr sz="75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60920" y="2743200"/>
            <a:ext cx="137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2E8B57"/>
                </a:solidFill>
                <a:latin typeface="微软雅黑"/>
                <a:ea typeface="微软雅黑"/>
              </a:rPr>
              <a:t>→</a:t>
            </a:r>
            <a:endParaRPr sz="1600" b="1">
              <a:solidFill>
                <a:srgbClr val="2E8B57"/>
              </a:solidFill>
              <a:latin typeface="微软雅黑"/>
              <a:ea typeface="微软雅黑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452360" y="2194560"/>
            <a:ext cx="9601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2286000"/>
            <a:ext cx="960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E8792B"/>
                </a:solidFill>
                <a:latin typeface="微软雅黑"/>
                <a:ea typeface="微软雅黑"/>
              </a:rPr>
              <a:t>CrashFeature
特征提取</a:t>
            </a:r>
            <a:endParaRPr sz="900" b="1">
              <a:solidFill>
                <a:srgbClr val="E8792B"/>
              </a:solidFill>
              <a:latin typeface="微软雅黑"/>
              <a:ea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452360" y="2926080"/>
            <a:ext cx="960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750" b="0">
                <a:solidFill>
                  <a:srgbClr val="4A5568"/>
                </a:solidFill>
                <a:latin typeface="微软雅黑"/>
                <a:ea typeface="微软雅黑"/>
              </a:rPr>
              <a:t>20+正则</a:t>
            </a:r>
            <a:endParaRPr sz="75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412480" y="2743200"/>
            <a:ext cx="137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2E8B57"/>
                </a:solidFill>
                <a:latin typeface="微软雅黑"/>
                <a:ea typeface="微软雅黑"/>
              </a:rPr>
              <a:t>→</a:t>
            </a:r>
            <a:endParaRPr sz="1600" b="1">
              <a:solidFill>
                <a:srgbClr val="2E8B57"/>
              </a:solidFill>
              <a:latin typeface="微软雅黑"/>
              <a:ea typeface="微软雅黑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503920" y="2194560"/>
            <a:ext cx="9601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3920" y="2286000"/>
            <a:ext cx="960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E8792B"/>
                </a:solidFill>
                <a:latin typeface="微软雅黑"/>
                <a:ea typeface="微软雅黑"/>
              </a:rPr>
              <a:t>RootCause
Analyzer</a:t>
            </a:r>
            <a:endParaRPr sz="900" b="1">
              <a:solidFill>
                <a:srgbClr val="E8792B"/>
              </a:solidFill>
              <a:latin typeface="微软雅黑"/>
              <a:ea typeface="微软雅黑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503920" y="2926080"/>
            <a:ext cx="960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750" b="0">
                <a:solidFill>
                  <a:srgbClr val="4A5568"/>
                </a:solidFill>
                <a:latin typeface="微软雅黑"/>
                <a:ea typeface="微软雅黑"/>
              </a:rPr>
              <a:t>28条规则</a:t>
            </a:r>
            <a:endParaRPr sz="75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464040" y="2743200"/>
            <a:ext cx="137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2E8B57"/>
                </a:solidFill>
                <a:latin typeface="微软雅黑"/>
                <a:ea typeface="微软雅黑"/>
              </a:rPr>
              <a:t>→</a:t>
            </a:r>
            <a:endParaRPr sz="1600" b="1">
              <a:solidFill>
                <a:srgbClr val="2E8B57"/>
              </a:solidFill>
              <a:latin typeface="微软雅黑"/>
              <a:ea typeface="微软雅黑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555480" y="2194560"/>
            <a:ext cx="9601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55480" y="2286000"/>
            <a:ext cx="960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E8792B"/>
                </a:solidFill>
                <a:latin typeface="微软雅黑"/>
                <a:ea typeface="微软雅黑"/>
              </a:rPr>
              <a:t>四阶段检索
Recall→Judge</a:t>
            </a:r>
            <a:endParaRPr sz="900" b="1">
              <a:solidFill>
                <a:srgbClr val="E8792B"/>
              </a:solidFill>
              <a:latin typeface="微软雅黑"/>
              <a:ea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555480" y="2926080"/>
            <a:ext cx="960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750" b="0">
                <a:solidFill>
                  <a:srgbClr val="4A5568"/>
                </a:solidFill>
                <a:latin typeface="微软雅黑"/>
                <a:ea typeface="微软雅黑"/>
              </a:rPr>
              <a:t>100→5</a:t>
            </a:r>
            <a:endParaRPr sz="75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515600" y="2743200"/>
            <a:ext cx="137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2E8B57"/>
                </a:solidFill>
                <a:latin typeface="微软雅黑"/>
                <a:ea typeface="微软雅黑"/>
              </a:rPr>
              <a:t>→</a:t>
            </a:r>
            <a:endParaRPr sz="1600" b="1">
              <a:solidFill>
                <a:srgbClr val="2E8B57"/>
              </a:solidFill>
              <a:latin typeface="微软雅黑"/>
              <a:ea typeface="微软雅黑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10607040" y="2194560"/>
            <a:ext cx="9601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07040" y="2286000"/>
            <a:ext cx="960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E8792B"/>
                </a:solidFill>
                <a:latin typeface="微软雅黑"/>
                <a:ea typeface="微软雅黑"/>
              </a:rPr>
              <a:t>补丁推荐
可解释报告</a:t>
            </a:r>
            <a:endParaRPr sz="900" b="1">
              <a:solidFill>
                <a:srgbClr val="E8792B"/>
              </a:solidFill>
              <a:latin typeface="微软雅黑"/>
              <a:ea typeface="微软雅黑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0607040" y="2926080"/>
            <a:ext cx="960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750" b="0">
                <a:solidFill>
                  <a:srgbClr val="4A5568"/>
                </a:solidFill>
                <a:latin typeface="微软雅黑"/>
                <a:ea typeface="微软雅黑"/>
              </a:rPr>
              <a:t>Top-3~5</a:t>
            </a:r>
            <a:endParaRPr sz="75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400800" y="3931920"/>
            <a:ext cx="5120640" cy="2103120"/>
          </a:xfrm>
          <a:prstGeom prst="rect">
            <a:avLst/>
          </a:prstGeom>
          <a:noFill/>
        </p:spPr>
        <p:txBody>
          <a:bodyPr wrap="square"/>
          <a:lstStyle/>
          <a:p>
            <a:pPr indent="0" algn="l">
              <a:lnSpc>
                <a:spcPct val="120000"/>
              </a:lnSpc>
              <a:buFont typeface="Wingdings" charset="0"/>
              <a:buNone/>
            </a:pPr>
            <a:r>
              <a:rPr sz="1200" b="1">
                <a:solidFill>
                  <a:srgbClr val="4A5568"/>
                </a:solidFill>
                <a:latin typeface="微软雅黑"/>
                <a:ea typeface="微软雅黑"/>
              </a:rPr>
              <a:t>关键设计：
</a:t>
            </a:r>
            <a:endParaRPr sz="1200" b="1">
              <a:solidFill>
                <a:srgbClr val="4A5568"/>
              </a:solidFill>
              <a:latin typeface="微软雅黑"/>
              <a:ea typeface="微软雅黑"/>
            </a:endParaRPr>
          </a:p>
          <a:p>
            <a:pPr marL="171450" indent="-171450" algn="l">
              <a:lnSpc>
                <a:spcPct val="120000"/>
              </a:lnSpc>
              <a:buFont typeface="Wingdings" charset="0"/>
              <a:buChar char=""/>
            </a:pPr>
            <a:r>
              <a:rPr lang="zh-CN" altLang="en-US" sz="950" b="0">
                <a:solidFill>
                  <a:srgbClr val="4A5568"/>
                </a:solidFill>
                <a:latin typeface="微软雅黑"/>
                <a:ea typeface="微软雅黑"/>
              </a:rPr>
              <a:t>混合特征抽取：支持多源日志统一解析，融合</a:t>
            </a:r>
            <a:r>
              <a:rPr lang="en-US" altLang="zh-CN" sz="950" b="0">
                <a:solidFill>
                  <a:srgbClr val="4A5568"/>
                </a:solidFill>
                <a:latin typeface="微软雅黑"/>
                <a:ea typeface="微软雅黑"/>
              </a:rPr>
              <a:t>20+ Panic</a:t>
            </a:r>
            <a:r>
              <a:rPr lang="zh-CN" altLang="en-US" sz="950" b="0">
                <a:solidFill>
                  <a:srgbClr val="4A5568"/>
                </a:solidFill>
                <a:latin typeface="微软雅黑"/>
                <a:ea typeface="微软雅黑"/>
              </a:rPr>
              <a:t>规则与</a:t>
            </a:r>
            <a:r>
              <a:rPr lang="en-US" altLang="zh-CN" sz="950" b="0">
                <a:solidFill>
                  <a:srgbClr val="4A5568"/>
                </a:solidFill>
                <a:latin typeface="微软雅黑"/>
                <a:ea typeface="微软雅黑"/>
              </a:rPr>
              <a:t>LLM</a:t>
            </a:r>
            <a:r>
              <a:rPr lang="zh-CN" altLang="en-US" sz="950" b="0">
                <a:solidFill>
                  <a:srgbClr val="4A5568"/>
                </a:solidFill>
                <a:latin typeface="微软雅黑"/>
                <a:ea typeface="微软雅黑"/>
              </a:rPr>
              <a:t>语义分析。</a:t>
            </a:r>
            <a:endParaRPr lang="zh-CN" altLang="en-US" sz="950" b="0">
              <a:solidFill>
                <a:srgbClr val="4A5568"/>
              </a:solidFill>
              <a:latin typeface="微软雅黑"/>
              <a:ea typeface="微软雅黑"/>
            </a:endParaRPr>
          </a:p>
          <a:p>
            <a:pPr marL="171450" indent="-171450" algn="l">
              <a:lnSpc>
                <a:spcPct val="120000"/>
              </a:lnSpc>
              <a:buFont typeface="Wingdings" charset="0"/>
              <a:buChar char=""/>
            </a:pPr>
            <a:r>
              <a:rPr lang="zh-CN" altLang="en-US" sz="950" b="0">
                <a:solidFill>
                  <a:srgbClr val="4A5568"/>
                </a:solidFill>
                <a:latin typeface="微软雅黑"/>
                <a:ea typeface="微软雅黑"/>
              </a:rPr>
              <a:t>专家根因定位：内置</a:t>
            </a:r>
            <a:r>
              <a:rPr lang="en-US" altLang="zh-CN" sz="950" b="0">
                <a:solidFill>
                  <a:srgbClr val="4A5568"/>
                </a:solidFill>
                <a:latin typeface="微软雅黑"/>
                <a:ea typeface="微软雅黑"/>
              </a:rPr>
              <a:t>28</a:t>
            </a:r>
            <a:r>
              <a:rPr lang="zh-CN" altLang="en-US" sz="950" b="0">
                <a:solidFill>
                  <a:srgbClr val="4A5568"/>
                </a:solidFill>
                <a:latin typeface="微软雅黑"/>
                <a:ea typeface="微软雅黑"/>
              </a:rPr>
              <a:t>条内核规则，通过多层推理精准锁定故障根因。</a:t>
            </a:r>
            <a:endParaRPr lang="zh-CN" altLang="en-US" sz="950" b="0">
              <a:solidFill>
                <a:srgbClr val="4A5568"/>
              </a:solidFill>
              <a:latin typeface="微软雅黑"/>
              <a:ea typeface="微软雅黑"/>
            </a:endParaRPr>
          </a:p>
          <a:p>
            <a:pPr marL="171450" indent="-171450" algn="l">
              <a:lnSpc>
                <a:spcPct val="120000"/>
              </a:lnSpc>
              <a:buFont typeface="Wingdings" charset="0"/>
              <a:buChar char=""/>
            </a:pPr>
            <a:r>
              <a:rPr lang="zh-CN" altLang="en-US" sz="950" b="0">
                <a:solidFill>
                  <a:srgbClr val="4A5568"/>
                </a:solidFill>
                <a:latin typeface="微软雅黑"/>
                <a:ea typeface="微软雅黑"/>
              </a:rPr>
              <a:t>四阶检索排序：</a:t>
            </a:r>
            <a:r>
              <a:rPr lang="en-US" altLang="zh-CN" sz="950" b="0">
                <a:solidFill>
                  <a:srgbClr val="4A5568"/>
                </a:solidFill>
                <a:latin typeface="微软雅黑"/>
                <a:ea typeface="微软雅黑"/>
              </a:rPr>
              <a:t>Recall-Filter-Rerank-LLM Judge </a:t>
            </a:r>
            <a:r>
              <a:rPr lang="zh-CN" altLang="en-US" sz="950" b="0">
                <a:solidFill>
                  <a:srgbClr val="4A5568"/>
                </a:solidFill>
                <a:latin typeface="微软雅黑"/>
                <a:ea typeface="微软雅黑"/>
              </a:rPr>
              <a:t>链路，确保推荐精准可解释。</a:t>
            </a:r>
            <a:endParaRPr lang="zh-CN" altLang="en-US" sz="950" b="0">
              <a:solidFill>
                <a:srgbClr val="4A5568"/>
              </a:solidFill>
              <a:latin typeface="微软雅黑"/>
              <a:ea typeface="微软雅黑"/>
            </a:endParaRPr>
          </a:p>
          <a:p>
            <a:pPr marL="171450" indent="-171450" algn="l">
              <a:lnSpc>
                <a:spcPct val="120000"/>
              </a:lnSpc>
              <a:buFont typeface="Wingdings" charset="0"/>
              <a:buChar char=""/>
            </a:pPr>
            <a:r>
              <a:rPr lang="zh-CN" altLang="en-US" sz="950" b="0">
                <a:solidFill>
                  <a:srgbClr val="4A5568"/>
                </a:solidFill>
                <a:latin typeface="微软雅黑"/>
                <a:ea typeface="微软雅黑"/>
              </a:rPr>
              <a:t>多模式与可解释：支持</a:t>
            </a:r>
            <a:r>
              <a:rPr lang="en-US" altLang="zh-CN" sz="950" b="0">
                <a:solidFill>
                  <a:srgbClr val="4A5568"/>
                </a:solidFill>
                <a:latin typeface="微软雅黑"/>
                <a:ea typeface="微软雅黑"/>
              </a:rPr>
              <a:t>Fast/Standard/Deep</a:t>
            </a:r>
            <a:r>
              <a:rPr lang="zh-CN" altLang="en-US" sz="950" b="0">
                <a:solidFill>
                  <a:srgbClr val="4A5568"/>
                </a:solidFill>
                <a:latin typeface="微软雅黑"/>
                <a:ea typeface="微软雅黑"/>
              </a:rPr>
              <a:t>三级推理，输出</a:t>
            </a:r>
            <a:r>
              <a:rPr lang="en-US" altLang="zh-CN" sz="950" b="0">
                <a:solidFill>
                  <a:srgbClr val="4A5568"/>
                </a:solidFill>
                <a:latin typeface="微软雅黑"/>
                <a:ea typeface="微软雅黑"/>
              </a:rPr>
              <a:t>Top</a:t>
            </a:r>
            <a:r>
              <a:rPr lang="zh-CN" altLang="en-US" sz="950" b="0">
                <a:solidFill>
                  <a:srgbClr val="4A5568"/>
                </a:solidFill>
                <a:latin typeface="微软雅黑"/>
                <a:ea typeface="微软雅黑"/>
              </a:rPr>
              <a:t>补丁及根因链路。</a:t>
            </a:r>
            <a:endParaRPr lang="zh-CN" altLang="en-US" sz="95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457200" y="6446520"/>
            <a:ext cx="11247120" cy="292608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6446520"/>
            <a:ext cx="10972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技术栈：Python 3.12 | FastAPI | BGE-M3 | BGE-Reranker-v2 | Milvus/FAISS | PyDriller | drgn | Vue 3 | Docker | Ollama</a:t>
            </a:r>
            <a:endParaRPr sz="9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944225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</a:pPr>
            <a:r>
              <a:rPr lang="en-US" sz="900" b="0">
                <a:solidFill>
                  <a:srgbClr val="4A5568"/>
                </a:solidFill>
                <a:latin typeface="微软雅黑"/>
                <a:ea typeface="微软雅黑"/>
              </a:rPr>
              <a:t>10</a:t>
            </a: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en-US" sz="900">
                <a:solidFill>
                  <a:srgbClr val="4A5568"/>
                </a:solidFill>
                <a:latin typeface="微软雅黑"/>
                <a:ea typeface="微软雅黑"/>
                <a:sym typeface="+mn-ea"/>
              </a:rPr>
              <a:t>26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微软雅黑"/>
              </a:rPr>
              <a:t>3</a:t>
            </a:r>
            <a:endParaRPr lang="en-US"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2004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lang="zh-CN" sz="2600" b="1">
                <a:solidFill>
                  <a:srgbClr val="0F1B2D"/>
                </a:solidFill>
                <a:latin typeface="微软雅黑"/>
                <a:ea typeface="微软雅黑"/>
              </a:rPr>
              <a:t>系统总</a:t>
            </a:r>
            <a:r>
              <a:rPr sz="2600" b="1">
                <a:solidFill>
                  <a:srgbClr val="0F1B2D"/>
                </a:solidFill>
                <a:latin typeface="微软雅黑"/>
                <a:ea typeface="微软雅黑"/>
              </a:rPr>
              <a:t>架构：离线治理 + 在线检索双阶段</a:t>
            </a:r>
            <a:endParaRPr sz="26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34440" y="77724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A5568"/>
                </a:solidFill>
                <a:latin typeface="Arial" panose="020B0604020202020204"/>
                <a:ea typeface="Arial" panose="020B0604020202020204"/>
              </a:rPr>
              <a:t>System Architecture: Offline Indexing + Online Retrieval</a:t>
            </a:r>
            <a:endParaRPr sz="1200" b="0">
              <a:solidFill>
                <a:srgbClr val="4A5568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60920" y="2743200"/>
            <a:ext cx="137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endParaRPr sz="1600" b="1">
              <a:solidFill>
                <a:srgbClr val="2E8B57"/>
              </a:solidFill>
              <a:latin typeface="微软雅黑"/>
              <a:ea typeface="微软雅黑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457200" y="6446520"/>
            <a:ext cx="11247120" cy="292608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6446520"/>
            <a:ext cx="10972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技术栈：Python 3.12 | FastAPI | BGE-M3 | BGE-Reranker-v2 | Milvus/FAISS | PyDriller | drgn | Vue 3 | Docker | Ollama</a:t>
            </a:r>
            <a:endParaRPr sz="9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944225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</a:pPr>
            <a:r>
              <a:rPr lang="en-US" sz="900" b="0">
                <a:solidFill>
                  <a:srgbClr val="4A5568"/>
                </a:solidFill>
                <a:latin typeface="微软雅黑"/>
                <a:ea typeface="微软雅黑"/>
              </a:rPr>
              <a:t>11</a:t>
            </a: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en-US" sz="900">
                <a:solidFill>
                  <a:srgbClr val="4A5568"/>
                </a:solidFill>
                <a:latin typeface="微软雅黑"/>
                <a:ea typeface="微软雅黑"/>
                <a:sym typeface="+mn-ea"/>
              </a:rPr>
              <a:t>26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1446530"/>
            <a:ext cx="12191365" cy="21348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微软雅黑"/>
              </a:rPr>
              <a:t>4</a:t>
            </a:r>
            <a:endParaRPr lang="en-US"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2004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lang="zh-CN" altLang="en-US" sz="2600" b="1">
                <a:solidFill>
                  <a:srgbClr val="0F1B2D"/>
                </a:solidFill>
                <a:latin typeface="微软雅黑"/>
                <a:ea typeface="微软雅黑"/>
                <a:sym typeface="+mn-ea"/>
              </a:rPr>
              <a:t>关键技术成果</a:t>
            </a:r>
            <a:endParaRPr lang="zh-CN" altLang="en-US" sz="2600" b="1">
              <a:solidFill>
                <a:srgbClr val="0F1B2D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</a:pPr>
            <a:endParaRPr sz="26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</a:pPr>
            <a:r>
              <a:rPr lang="en-US" sz="900" b="0">
                <a:solidFill>
                  <a:srgbClr val="4A5568"/>
                </a:solidFill>
                <a:latin typeface="微软雅黑"/>
                <a:ea typeface="微软雅黑"/>
              </a:rPr>
              <a:t>12</a:t>
            </a: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en-US" sz="900">
                <a:solidFill>
                  <a:srgbClr val="4A5568"/>
                </a:solidFill>
                <a:latin typeface="微软雅黑"/>
                <a:ea typeface="微软雅黑"/>
                <a:sym typeface="+mn-ea"/>
              </a:rPr>
              <a:t>26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005" y="1245235"/>
            <a:ext cx="11064875" cy="5521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FF0000"/>
                </a:solidFill>
              </a:rPr>
              <a:t>▎核心创新点</a:t>
            </a:r>
            <a:endParaRPr lang="zh-CN" altLang="en-US" b="1">
              <a:solidFill>
                <a:srgbClr val="FF0000"/>
              </a:solidFill>
            </a:endParaRPr>
          </a:p>
          <a:p>
            <a:endParaRPr lang="zh-CN" altLang="en-US"/>
          </a:p>
          <a:p>
            <a:r>
              <a:rPr lang="zh-CN" altLang="en-US" sz="1600" b="1"/>
              <a:t>⭐ 对称 </a:t>
            </a:r>
            <a:r>
              <a:rPr lang="en-US" altLang="zh-CN" sz="1600" b="1"/>
              <a:t>Root Cause Embedding（</a:t>
            </a:r>
            <a:r>
              <a:rPr lang="zh-CN" altLang="en-US" sz="1600" b="1"/>
              <a:t>核心突破）</a:t>
            </a:r>
            <a:endParaRPr lang="zh-CN" altLang="en-US" sz="1600" b="1"/>
          </a:p>
          <a:p>
            <a:r>
              <a:rPr lang="zh-CN" altLang="en-US" sz="1600"/>
              <a:t>解决「宕机现象描述 ≠ </a:t>
            </a:r>
            <a:r>
              <a:rPr lang="en-US" altLang="zh-CN" sz="1600"/>
              <a:t>Commit</a:t>
            </a:r>
            <a:r>
              <a:rPr lang="zh-CN" altLang="en-US" sz="1600"/>
              <a:t>修复描述」语义鸿沟。</a:t>
            </a:r>
            <a:endParaRPr lang="zh-CN" altLang="en-US" sz="1600"/>
          </a:p>
          <a:p>
            <a:r>
              <a:rPr lang="zh-CN" altLang="en-US" sz="1600"/>
              <a:t>离线侧用 </a:t>
            </a:r>
            <a:r>
              <a:rPr lang="en-US" altLang="zh-CN" sz="1600"/>
              <a:t>CommitRootCauseBuilder (3-5ms/</a:t>
            </a:r>
            <a:r>
              <a:rPr lang="zh-CN" altLang="en-US" sz="1600"/>
              <a:t>条) 生成，在线侧用 </a:t>
            </a:r>
            <a:r>
              <a:rPr lang="en-US" altLang="zh-CN" sz="1600"/>
              <a:t>RootCauseAnalyzer (~100ms) </a:t>
            </a:r>
            <a:r>
              <a:rPr lang="zh-CN" altLang="en-US" sz="1600"/>
              <a:t>生成，</a:t>
            </a:r>
            <a:endParaRPr lang="zh-CN" altLang="en-US" sz="1600"/>
          </a:p>
          <a:p>
            <a:r>
              <a:rPr lang="zh-CN" altLang="en-US" sz="1600"/>
              <a:t>两端输出结构对称的 </a:t>
            </a:r>
            <a:r>
              <a:rPr lang="en-US" altLang="zh-CN" sz="1600"/>
              <a:t>embedding </a:t>
            </a:r>
            <a:r>
              <a:rPr lang="zh-CN" altLang="en-US" sz="1600"/>
              <a:t>文本（</a:t>
            </a:r>
            <a:r>
              <a:rPr lang="en-US" altLang="zh-CN" sz="1600"/>
              <a:t>BugType + Subsystem + RootCause + FixPattern + Symptoms），</a:t>
            </a:r>
            <a:endParaRPr lang="en-US" altLang="zh-CN" sz="1600"/>
          </a:p>
          <a:p>
            <a:r>
              <a:rPr lang="zh-CN" altLang="en-US" sz="1600"/>
              <a:t>相似度从传统方案的 0.3 提升至 0.85（提升 2.8</a:t>
            </a:r>
            <a:r>
              <a:rPr lang="en-US" altLang="zh-CN" sz="1600"/>
              <a:t>x）。</a:t>
            </a:r>
            <a:endParaRPr lang="en-US" altLang="zh-CN" sz="1600"/>
          </a:p>
          <a:p>
            <a:endParaRPr lang="en-US" altLang="zh-CN" sz="1600"/>
          </a:p>
          <a:p>
            <a:r>
              <a:rPr lang="zh-CN" altLang="en-US" sz="1600" b="1"/>
              <a:t>🔍 四阶段级联检索架构</a:t>
            </a:r>
            <a:endParaRPr lang="zh-CN" altLang="en-US" sz="1600" b="1"/>
          </a:p>
          <a:p>
            <a:r>
              <a:rPr lang="en-US" altLang="zh-CN" sz="1600"/>
              <a:t>Recall(Top-100) → Filter(50-80) → Rerank(Top-20) → LLM Judge(Top-3~5)</a:t>
            </a:r>
            <a:endParaRPr lang="en-US" altLang="zh-CN" sz="1600"/>
          </a:p>
          <a:p>
            <a:r>
              <a:rPr lang="zh-CN" altLang="en-US" sz="1600"/>
              <a:t>漏斗式精准收敛，兼顾 95%+ 召回率与秒级响应（&lt;3</a:t>
            </a:r>
            <a:r>
              <a:rPr lang="en-US" altLang="zh-CN" sz="1600"/>
              <a:t>s standard </a:t>
            </a:r>
            <a:r>
              <a:rPr lang="zh-CN" altLang="en-US" sz="1600"/>
              <a:t>模式）。</a:t>
            </a:r>
            <a:endParaRPr lang="en-US" altLang="zh-CN" sz="1600"/>
          </a:p>
          <a:p>
            <a:endParaRPr lang="en-US" altLang="zh-CN" sz="1600" b="1"/>
          </a:p>
          <a:p>
            <a:r>
              <a:rPr lang="zh-CN" altLang="en-US" sz="1600" b="1"/>
              <a:t>📋 28条内核专家规则 + 10种</a:t>
            </a:r>
            <a:r>
              <a:rPr lang="en-US" altLang="zh-CN" sz="1600" b="1"/>
              <a:t>Bug</a:t>
            </a:r>
            <a:r>
              <a:rPr lang="zh-CN" altLang="en-US" sz="1600" b="1"/>
              <a:t>模式</a:t>
            </a:r>
            <a:endParaRPr lang="zh-CN" altLang="en-US" sz="1600" b="1"/>
          </a:p>
          <a:p>
            <a:r>
              <a:rPr lang="zh-CN" altLang="en-US" sz="1600"/>
              <a:t>覆盖 </a:t>
            </a:r>
            <a:r>
              <a:rPr lang="en-US" altLang="zh-CN" sz="1600"/>
              <a:t>NULL pointer / UAF / deadlock / race condition / RCU stall / OOM </a:t>
            </a:r>
            <a:r>
              <a:rPr lang="zh-CN" altLang="en-US" sz="1600"/>
              <a:t>等</a:t>
            </a:r>
            <a:endParaRPr lang="zh-CN" altLang="en-US" sz="1600"/>
          </a:p>
          <a:p>
            <a:r>
              <a:rPr lang="zh-CN" altLang="en-US" sz="1600"/>
              <a:t>6种锁类型 + 5种死锁模式 + 8条锁排序规则，将内核领域知识编码为检索算法先验。</a:t>
            </a:r>
            <a:endParaRPr lang="zh-CN" altLang="en-US" sz="1600"/>
          </a:p>
          <a:p>
            <a:endParaRPr lang="zh-CN" altLang="en-US" sz="1600" b="1"/>
          </a:p>
          <a:p>
            <a:r>
              <a:rPr lang="zh-CN" altLang="en-US" sz="1600" b="1"/>
              <a:t>🛡️ 多层级容错降级</a:t>
            </a:r>
            <a:endParaRPr lang="zh-CN" altLang="en-US" sz="1600" b="1"/>
          </a:p>
          <a:p>
            <a:r>
              <a:rPr lang="zh-CN" altLang="en-US" sz="1600"/>
              <a:t>5个组件独立降级：</a:t>
            </a:r>
            <a:r>
              <a:rPr lang="en-US" altLang="zh-CN" sz="1600"/>
              <a:t>Milvus→FAISS、LLM API→Ollama</a:t>
            </a:r>
            <a:r>
              <a:rPr lang="zh-CN" altLang="en-US" sz="1600"/>
              <a:t>本地→规则引擎、</a:t>
            </a:r>
            <a:endParaRPr lang="zh-CN" altLang="en-US" sz="1600"/>
          </a:p>
          <a:p>
            <a:r>
              <a:rPr lang="en-US" altLang="zh-CN" sz="1600"/>
              <a:t>Embedding BGE→Mock、Redis→</a:t>
            </a:r>
            <a:r>
              <a:rPr lang="zh-CN" altLang="en-US" sz="1600"/>
              <a:t>内存字典。核心功能在任何环境下不中断。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🆓 零成本使用</a:t>
            </a:r>
            <a:endParaRPr lang="zh-CN" altLang="en-US" sz="1600" b="1"/>
          </a:p>
          <a:p>
            <a:r>
              <a:rPr lang="zh-CN" altLang="en-US" sz="1600"/>
              <a:t>集成 </a:t>
            </a:r>
            <a:r>
              <a:rPr lang="en-US" altLang="zh-CN" sz="1600"/>
              <a:t>Ollama </a:t>
            </a:r>
            <a:r>
              <a:rPr lang="zh-CN" altLang="en-US" sz="1600"/>
              <a:t>本地大模型（如 </a:t>
            </a:r>
            <a:r>
              <a:rPr lang="en-US" altLang="zh-CN" sz="1600"/>
              <a:t>qwen2.5:7b），</a:t>
            </a:r>
            <a:r>
              <a:rPr lang="zh-CN" altLang="en-US" sz="1600"/>
              <a:t>用户无需 </a:t>
            </a:r>
            <a:r>
              <a:rPr lang="en-US" altLang="zh-CN" sz="1600"/>
              <a:t>API Key </a:t>
            </a:r>
            <a:r>
              <a:rPr lang="zh-CN" altLang="en-US" sz="1600"/>
              <a:t>即可使用 </a:t>
            </a:r>
            <a:r>
              <a:rPr lang="en-US" altLang="zh-CN" sz="1600"/>
              <a:t>LLM </a:t>
            </a:r>
            <a:r>
              <a:rPr lang="zh-CN" altLang="en-US" sz="1600"/>
              <a:t>分析功能。</a:t>
            </a:r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微软雅黑"/>
              </a:rPr>
              <a:t>4</a:t>
            </a:r>
            <a:endParaRPr lang="en-US"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2004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lang="zh-CN" altLang="en-US" sz="2600" b="1">
                <a:solidFill>
                  <a:srgbClr val="0F1B2D"/>
                </a:solidFill>
                <a:latin typeface="微软雅黑"/>
                <a:ea typeface="微软雅黑"/>
                <a:sym typeface="+mn-ea"/>
              </a:rPr>
              <a:t>关键技术成果</a:t>
            </a:r>
            <a:endParaRPr lang="zh-CN" altLang="en-US" sz="2600" b="1">
              <a:solidFill>
                <a:srgbClr val="0F1B2D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</a:pPr>
            <a:endParaRPr sz="26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</a:pPr>
            <a:r>
              <a:rPr lang="en-US" sz="900" b="0">
                <a:solidFill>
                  <a:srgbClr val="4A5568"/>
                </a:solidFill>
                <a:latin typeface="微软雅黑"/>
                <a:ea typeface="微软雅黑"/>
              </a:rPr>
              <a:t>13</a:t>
            </a: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en-US" sz="900">
                <a:solidFill>
                  <a:srgbClr val="4A5568"/>
                </a:solidFill>
                <a:latin typeface="微软雅黑"/>
                <a:ea typeface="微软雅黑"/>
                <a:sym typeface="+mn-ea"/>
              </a:rPr>
              <a:t>26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2440" y="1772285"/>
            <a:ext cx="11064875" cy="4831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1600"/>
          </a:p>
        </p:txBody>
      </p:sp>
      <p:sp>
        <p:nvSpPr>
          <p:cNvPr id="8" name="文本框 7"/>
          <p:cNvSpPr txBox="1"/>
          <p:nvPr/>
        </p:nvSpPr>
        <p:spPr>
          <a:xfrm>
            <a:off x="548640" y="12141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00B050"/>
                </a:solidFill>
              </a:rPr>
              <a:t>▎关键性能指标</a:t>
            </a:r>
            <a:endParaRPr lang="zh-CN" altLang="en-US" b="1">
              <a:solidFill>
                <a:srgbClr val="00B050"/>
              </a:solidFill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540385" y="1772285"/>
          <a:ext cx="11071860" cy="3714115"/>
        </p:xfrm>
        <a:graphic>
          <a:graphicData uri="http://schemas.openxmlformats.org/drawingml/2006/table">
            <a:tbl>
              <a:tblPr/>
              <a:tblGrid>
                <a:gridCol w="2767965"/>
                <a:gridCol w="2767965"/>
                <a:gridCol w="2767965"/>
                <a:gridCol w="2767965"/>
              </a:tblGrid>
              <a:tr h="337820"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 b="1">
                          <a:latin typeface="微软雅黑"/>
                          <a:ea typeface="微软雅黑"/>
                        </a:rPr>
                        <a:t>指标</a:t>
                      </a:r>
                      <a:endParaRPr lang="zh-CN" sz="1000" b="1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 b="1">
                          <a:latin typeface="微软雅黑"/>
                          <a:ea typeface="微软雅黑"/>
                        </a:rPr>
                        <a:t>目标值</a:t>
                      </a:r>
                      <a:endParaRPr lang="zh-CN" sz="1000" b="1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 b="1">
                          <a:latin typeface="微软雅黑"/>
                          <a:ea typeface="微软雅黑"/>
                        </a:rPr>
                        <a:t>当前达成</a:t>
                      </a:r>
                      <a:endParaRPr lang="zh-CN" sz="1000" b="1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 b="1">
                          <a:latin typeface="微软雅黑"/>
                          <a:ea typeface="微软雅黑"/>
                        </a:rPr>
                        <a:t>说明</a:t>
                      </a:r>
                      <a:endParaRPr lang="zh-CN" sz="1000" b="1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655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Top-3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命中率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≥ 60%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测试中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基于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Fixes: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标签 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ground truth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845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检索召回率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(Top-100)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≥ 95%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达成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覆盖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95%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以上相关补丁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564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离线索引耗时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3-5ms/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条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达成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CommitRootCauseBuilder 3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层轻量引擎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718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在线分析耗时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~100ms/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次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达成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根因分析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+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检索 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+ LLM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判优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782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端到端延迟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(standard)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&lt; 3s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达成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提交日志到返回诊断报告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782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API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响应时间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&lt; 500ms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达成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统计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/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搜索接口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845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并发支持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50+ QPS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达成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FastAPI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异步处理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655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全量索引规模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312,632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条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达成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覆盖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Linux 4.9 ~ 6.13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782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内存占用（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FAISS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）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&lt; 8GB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~3.1GB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满足要求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微软雅黑"/>
              </a:rPr>
              <a:t>4</a:t>
            </a:r>
            <a:endParaRPr lang="en-US"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2004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1B2D"/>
                </a:solidFill>
                <a:latin typeface="微软雅黑"/>
                <a:ea typeface="微软雅黑"/>
              </a:rPr>
              <a:t>核心突破：解决「语义非对称」的对称嵌入方案</a:t>
            </a:r>
            <a:endParaRPr sz="26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34440" y="77724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A5568"/>
                </a:solidFill>
                <a:latin typeface="Arial" panose="020B0604020202020204"/>
                <a:ea typeface="Arial" panose="020B0604020202020204"/>
              </a:rPr>
              <a:t>Core Innovation: Symmetric Root Cause Embedding</a:t>
            </a:r>
            <a:endParaRPr sz="1200" b="0">
              <a:solidFill>
                <a:srgbClr val="4A5568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5303520" cy="256032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C3535"/>
                </a:solidFill>
                <a:latin typeface="微软雅黑"/>
                <a:ea typeface="微软雅黑"/>
              </a:rPr>
              <a:t>❌ 传统方案：直接向量化对比</a:t>
            </a:r>
            <a:endParaRPr sz="1400" b="1">
              <a:solidFill>
                <a:srgbClr val="DC3535"/>
              </a:solidFill>
              <a:latin typeface="微软雅黑"/>
              <a:ea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2103120"/>
            <a:ext cx="8686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868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DC3535"/>
                </a:solidFill>
                <a:latin typeface="微软雅黑"/>
                <a:ea typeface="微软雅黑"/>
              </a:rPr>
              <a:t>宕机日志</a:t>
            </a:r>
            <a:endParaRPr sz="900" b="1">
              <a:solidFill>
                <a:srgbClr val="DC3535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7950" y="2294255"/>
            <a:ext cx="359410" cy="21463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DC3535"/>
                </a:solidFill>
                <a:latin typeface="微软雅黑"/>
                <a:ea typeface="微软雅黑"/>
              </a:rPr>
              <a:t>→</a:t>
            </a:r>
            <a:endParaRPr sz="1400" b="0">
              <a:solidFill>
                <a:srgbClr val="DC3535"/>
              </a:solidFill>
              <a:latin typeface="微软雅黑"/>
              <a:ea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645920" y="2103120"/>
            <a:ext cx="8686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2194560"/>
            <a:ext cx="868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DC3535"/>
                </a:solidFill>
                <a:latin typeface="微软雅黑"/>
                <a:ea typeface="微软雅黑"/>
              </a:rPr>
              <a:t>BGE-M3
编码</a:t>
            </a:r>
            <a:endParaRPr sz="900" b="1">
              <a:solidFill>
                <a:srgbClr val="DC3535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23160" y="2294255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DC3535"/>
                </a:solidFill>
                <a:latin typeface="微软雅黑"/>
                <a:ea typeface="微软雅黑"/>
              </a:rPr>
              <a:t>→</a:t>
            </a:r>
            <a:endParaRPr sz="1400" b="0">
              <a:solidFill>
                <a:srgbClr val="DC3535"/>
              </a:solidFill>
              <a:latin typeface="微软雅黑"/>
              <a:ea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651760" y="2103120"/>
            <a:ext cx="8686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0" y="2194560"/>
            <a:ext cx="868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DC3535"/>
                </a:solidFill>
                <a:latin typeface="微软雅黑"/>
                <a:ea typeface="微软雅黑"/>
              </a:rPr>
              <a:t>Cosine
Similarity
≈ 0.3</a:t>
            </a:r>
            <a:endParaRPr sz="900" b="1">
              <a:solidFill>
                <a:srgbClr val="DC3535"/>
              </a:solidFill>
              <a:latin typeface="微软雅黑"/>
              <a:ea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29000" y="2294255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DC3535"/>
                </a:solidFill>
                <a:latin typeface="微软雅黑"/>
                <a:ea typeface="微软雅黑"/>
              </a:rPr>
              <a:t>→</a:t>
            </a:r>
            <a:endParaRPr sz="1400" b="0">
              <a:solidFill>
                <a:srgbClr val="DC3535"/>
              </a:solidFill>
              <a:latin typeface="微软雅黑"/>
              <a:ea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657600" y="2103120"/>
            <a:ext cx="8686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2194560"/>
            <a:ext cx="868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DC3535"/>
                </a:solidFill>
                <a:latin typeface="微软雅黑"/>
                <a:ea typeface="微软雅黑"/>
              </a:rPr>
              <a:t>BGE-M3
编码</a:t>
            </a:r>
            <a:endParaRPr sz="900" b="1">
              <a:solidFill>
                <a:srgbClr val="DC3535"/>
              </a:solidFill>
              <a:latin typeface="微软雅黑"/>
              <a:ea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72940" y="2234565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DC3535"/>
                </a:solidFill>
                <a:latin typeface="微软雅黑"/>
                <a:ea typeface="微软雅黑"/>
              </a:rPr>
              <a:t>→</a:t>
            </a:r>
            <a:endParaRPr sz="1400" b="0">
              <a:solidFill>
                <a:srgbClr val="DC3535"/>
              </a:solidFill>
              <a:latin typeface="微软雅黑"/>
              <a:ea typeface="微软雅黑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663440" y="2103120"/>
            <a:ext cx="8686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2194560"/>
            <a:ext cx="868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DC3535"/>
                </a:solidFill>
                <a:latin typeface="微软雅黑"/>
                <a:ea typeface="微软雅黑"/>
              </a:rPr>
              <a:t>Commit
描述</a:t>
            </a:r>
            <a:endParaRPr sz="900" b="1">
              <a:solidFill>
                <a:srgbClr val="DC3535"/>
              </a:solidFill>
              <a:latin typeface="微软雅黑"/>
              <a:ea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" y="3200400"/>
            <a:ext cx="4937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A5568"/>
                </a:solidFill>
                <a:latin typeface="微软雅黑"/>
                <a:ea typeface="微软雅黑"/>
              </a:rPr>
              <a:t>问题：宕机日志呈现「运行时现象」（如 NULL pointer at 0x28），
补丁描述"代码修复逻辑"（如 add NULL check in slub allocator），
两者在向量空间中距离远，直接比对相似度极低（~0.3）。</a:t>
            </a:r>
            <a:endParaRPr sz="95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152515" y="1463040"/>
            <a:ext cx="5608320" cy="256032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55448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E8B57"/>
                </a:solidFill>
                <a:latin typeface="微软雅黑"/>
                <a:ea typeface="微软雅黑"/>
              </a:rPr>
              <a:t>✅ 本方案：对称根因嵌入（结构对齐）</a:t>
            </a:r>
            <a:endParaRPr sz="1400" b="1">
              <a:solidFill>
                <a:srgbClr val="2E8B57"/>
              </a:solidFill>
              <a:latin typeface="微软雅黑"/>
              <a:ea typeface="微软雅黑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00800" y="2103120"/>
            <a:ext cx="960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194560"/>
            <a:ext cx="960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2E8B57"/>
                </a:solidFill>
                <a:latin typeface="微软雅黑"/>
                <a:ea typeface="微软雅黑"/>
              </a:rPr>
              <a:t>宕机日志</a:t>
            </a:r>
            <a:endParaRPr sz="900" b="1">
              <a:solidFill>
                <a:srgbClr val="2E8B57"/>
              </a:solidFill>
              <a:latin typeface="微软雅黑"/>
              <a:ea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93280" y="2377440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2E8B57"/>
                </a:solidFill>
                <a:latin typeface="微软雅黑"/>
                <a:ea typeface="微软雅黑"/>
              </a:rPr>
              <a:t>→</a:t>
            </a:r>
            <a:endParaRPr sz="1400" b="0">
              <a:solidFill>
                <a:srgbClr val="2E8B57"/>
              </a:solidFill>
              <a:latin typeface="微软雅黑"/>
              <a:ea typeface="微软雅黑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463155" y="2103120"/>
            <a:ext cx="960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63155" y="2194560"/>
            <a:ext cx="960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2E8B57"/>
                </a:solidFill>
                <a:latin typeface="微软雅黑"/>
                <a:ea typeface="微软雅黑"/>
              </a:rPr>
              <a:t>RootCause
Analyzer
→根因文本</a:t>
            </a:r>
            <a:endParaRPr sz="900" b="1">
              <a:solidFill>
                <a:srgbClr val="2E8B57"/>
              </a:solidFill>
              <a:latin typeface="微软雅黑"/>
              <a:ea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51190" y="2377440"/>
            <a:ext cx="228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2E8B57"/>
                </a:solidFill>
                <a:latin typeface="微软雅黑"/>
                <a:ea typeface="微软雅黑"/>
              </a:rPr>
              <a:t>≈</a:t>
            </a:r>
            <a:endParaRPr sz="1200" b="1">
              <a:solidFill>
                <a:srgbClr val="2E8B57"/>
              </a:solidFill>
              <a:latin typeface="微软雅黑"/>
              <a:ea typeface="微软雅黑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542020" y="2103120"/>
            <a:ext cx="960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2020" y="2194560"/>
            <a:ext cx="960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2E8B57"/>
                </a:solidFill>
                <a:latin typeface="微软雅黑"/>
                <a:ea typeface="微软雅黑"/>
              </a:rPr>
              <a:t>Cosine
Similarity
≈ 0.85</a:t>
            </a:r>
            <a:endParaRPr sz="900" b="1">
              <a:solidFill>
                <a:srgbClr val="2E8B57"/>
              </a:solidFill>
              <a:latin typeface="微软雅黑"/>
              <a:ea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372600" y="2377440"/>
            <a:ext cx="228600" cy="27368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2E8B57"/>
                </a:solidFill>
                <a:latin typeface="微软雅黑"/>
                <a:ea typeface="微软雅黑"/>
              </a:rPr>
              <a:t>→</a:t>
            </a:r>
            <a:endParaRPr sz="1400" b="0">
              <a:solidFill>
                <a:srgbClr val="2E8B57"/>
              </a:solidFill>
              <a:latin typeface="微软雅黑"/>
              <a:ea typeface="微软雅黑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601200" y="2103120"/>
            <a:ext cx="960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0" y="2148840"/>
            <a:ext cx="960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2E8B57"/>
                </a:solidFill>
                <a:latin typeface="微软雅黑"/>
                <a:ea typeface="微软雅黑"/>
              </a:rPr>
              <a:t>CommitRoot
CauseBuilder
→修复文本</a:t>
            </a:r>
            <a:endParaRPr sz="900" b="1">
              <a:solidFill>
                <a:srgbClr val="2E8B57"/>
              </a:solidFill>
              <a:latin typeface="微软雅黑"/>
              <a:ea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558145" y="2377440"/>
            <a:ext cx="228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2E8B57"/>
                </a:solidFill>
                <a:latin typeface="微软雅黑"/>
                <a:ea typeface="微软雅黑"/>
              </a:rPr>
              <a:t>→</a:t>
            </a:r>
            <a:endParaRPr sz="1400" b="0">
              <a:solidFill>
                <a:srgbClr val="2E8B57"/>
              </a:solidFill>
              <a:latin typeface="微软雅黑"/>
              <a:ea typeface="微软雅黑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10786745" y="2103120"/>
            <a:ext cx="960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865485" y="2377440"/>
            <a:ext cx="881380" cy="38544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2E8B57"/>
                </a:solidFill>
                <a:latin typeface="微软雅黑"/>
                <a:ea typeface="微软雅黑"/>
              </a:rPr>
              <a:t>Commit
信息</a:t>
            </a:r>
            <a:endParaRPr sz="900" b="1">
              <a:solidFill>
                <a:srgbClr val="2E8B57"/>
              </a:solidFill>
              <a:latin typeface="微软雅黑"/>
              <a:ea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00800" y="3200400"/>
            <a:ext cx="51206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A5568"/>
                </a:solidFill>
                <a:latin typeface="微软雅黑"/>
                <a:ea typeface="微软雅黑"/>
              </a:rPr>
              <a:t>核心思路：将「现象/描述」统一转化为「根因/修复」结构对称文本，
嵌入文本格式对齐：BugType + Subsystem + RootCause + FixPattern
同语义空间编码，两端精准对齐，相似度从 0.3 → 0.85。</a:t>
            </a:r>
            <a:endParaRPr sz="95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457200" y="4297680"/>
            <a:ext cx="112471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389120"/>
            <a:ext cx="10881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B2D"/>
                </a:solidFill>
                <a:latin typeface="微软雅黑"/>
                <a:ea typeface="微软雅黑"/>
              </a:rPr>
              <a:t>▎嵌入文本结构对称示例（离线 / 在线两端统一格式）</a:t>
            </a:r>
            <a:endParaRPr sz="13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40080" y="4800600"/>
            <a:ext cx="5303520" cy="160020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484632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1E3A5F"/>
                </a:solidFill>
                <a:latin typeface="微软雅黑"/>
                <a:ea typeface="微软雅黑"/>
              </a:rPr>
              <a:t>离线侧（Commit 索引）— CommitRootCauseBuilder 生成</a:t>
            </a:r>
            <a:endParaRPr sz="900" b="1">
              <a:solidFill>
                <a:srgbClr val="1E3A5F"/>
              </a:solidFill>
              <a:latin typeface="微软雅黑"/>
              <a:ea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22960" y="5212080"/>
            <a:ext cx="49377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E3A5F"/>
                </a:solidFill>
                <a:latin typeface="Courier New" panose="02070309020205020404"/>
                <a:ea typeface="Courier New" panose="02070309020205020404"/>
              </a:rPr>
              <a:t>BugType: null_pointer_dereference
Subsystem: mm/slub
RootCause: Missing NULL check before pointer dereference in slub allocator
FixPattern: Add NULL pointer validation before accessing struct member
Symptoms: NULL pointer dereference, kernel panic, unable to handle</a:t>
            </a:r>
            <a:endParaRPr sz="900" b="0">
              <a:solidFill>
                <a:srgbClr val="1E3A5F"/>
              </a:solidFill>
              <a:latin typeface="Courier New" panose="02070309020205020404"/>
              <a:ea typeface="Courier New" panose="02070309020205020404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217920" y="4800600"/>
            <a:ext cx="5303520" cy="1600200"/>
          </a:xfrm>
          <a:prstGeom prst="roundRect">
            <a:avLst/>
          </a:prstGeom>
          <a:solidFill>
            <a:srgbClr val="FF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484632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E8792B"/>
                </a:solidFill>
                <a:latin typeface="微软雅黑"/>
                <a:ea typeface="微软雅黑"/>
              </a:rPr>
              <a:t>在线侧（宕机诊断）— RootCauseAnalyzer 生成</a:t>
            </a:r>
            <a:endParaRPr sz="900" b="1">
              <a:solidFill>
                <a:srgbClr val="E8792B"/>
              </a:solidFill>
              <a:latin typeface="微软雅黑"/>
              <a:ea typeface="微软雅黑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400800" y="5212080"/>
            <a:ext cx="49377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E8792B"/>
                </a:solidFill>
                <a:latin typeface="Courier New" panose="02070309020205020404"/>
                <a:ea typeface="Courier New" panose="02070309020205020404"/>
              </a:rPr>
              <a:t>BugType: null_pointer_dereference
Subsystem: mm
RootCause: NULL pointer dereference without validity check
FixPattern: Add NULL pointer validation
Symptoms: BUG: unable to handle kernel NULL pointer at 0x28, Call Trace: slub_free</a:t>
            </a:r>
            <a:endParaRPr sz="900" b="0">
              <a:solidFill>
                <a:srgbClr val="E8792B"/>
              </a:solidFill>
              <a:latin typeface="Courier New" panose="02070309020205020404"/>
              <a:ea typeface="Courier New" panose="02070309020205020404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265805" y="6355080"/>
            <a:ext cx="5760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2E8B57"/>
                </a:solidFill>
                <a:latin typeface="微软雅黑"/>
                <a:ea typeface="微软雅黑"/>
              </a:rPr>
              <a:t>⬆ 两端输出结构完全对称，在相同语义空间编码 ⬆</a:t>
            </a:r>
            <a:endParaRPr sz="900" b="1">
              <a:solidFill>
                <a:srgbClr val="2E8B57"/>
              </a:solidFill>
              <a:latin typeface="微软雅黑"/>
              <a:ea typeface="微软雅黑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</a:pPr>
            <a:r>
              <a:rPr lang="en-US" sz="900" b="0">
                <a:solidFill>
                  <a:srgbClr val="4A5568"/>
                </a:solidFill>
                <a:latin typeface="微软雅黑"/>
                <a:ea typeface="微软雅黑"/>
              </a:rPr>
              <a:t>14</a:t>
            </a: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en-US" sz="900">
                <a:solidFill>
                  <a:srgbClr val="4A5568"/>
                </a:solidFill>
                <a:latin typeface="微软雅黑"/>
                <a:ea typeface="微软雅黑"/>
                <a:sym typeface="+mn-ea"/>
              </a:rPr>
              <a:t>26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微软雅黑"/>
              </a:rPr>
              <a:t>4</a:t>
            </a:r>
            <a:endParaRPr lang="en-US"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2004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1B2D"/>
                </a:solidFill>
                <a:latin typeface="微软雅黑"/>
                <a:ea typeface="微软雅黑"/>
              </a:rPr>
              <a:t>对称嵌入双端设计：离线轻量 vs 在线精准</a:t>
            </a:r>
            <a:endParaRPr sz="26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34440" y="77724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A5568"/>
                </a:solidFill>
                <a:latin typeface="Arial" panose="020B0604020202020204"/>
                <a:ea typeface="Arial" panose="020B0604020202020204"/>
              </a:rPr>
              <a:t>Dual-End Design: Lightweight Offline vs. Accurate Online</a:t>
            </a:r>
            <a:endParaRPr sz="1200" b="0">
              <a:solidFill>
                <a:srgbClr val="4A5568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63040"/>
          <a:ext cx="10789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572000"/>
                <a:gridCol w="45720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对比维度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离线侧（Commit 索引）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在线侧（宕机诊断）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核心模块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CommitRootCauseBuilder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RootCauseAnalyzer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分析层次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3层（模板查表→Diff规则→置信度）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4层（专家规则→调用栈→Bug抽象→兜底）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处理耗时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3-5 ms/commit（百万级吞吐）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~100 ms/次（在线实时）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输入数据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CommitInfo（title/body/diff/files）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CrashFeature（panic_type/call_trace/subsystem）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规则数量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25条 DIFF_RULES（锁/RCU/内存等）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28条 EXPERT_RULES + 10种Bug模式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核心能力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轻量快速，支持145万+commit索引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深度精确，4层推断+LLM协同推理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输出格式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embedding_text → BGE-M3 → Milvus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retrieval_query → BGE-M3 → 向量检索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4389120"/>
            <a:ext cx="112471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10881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B2D"/>
                </a:solidFill>
                <a:latin typeface="微软雅黑"/>
                <a:ea typeface="微软雅黑"/>
              </a:rPr>
              <a:t>▎对称嵌入文本结构模板（突出「结构对称」）</a:t>
            </a:r>
            <a:endParaRPr sz="13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60" y="4983480"/>
            <a:ext cx="20116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983480"/>
            <a:ext cx="2011680" cy="38100"/>
          </a:xfrm>
          <a:prstGeom prst="rect">
            <a:avLst/>
          </a:prstGeom>
          <a:solidFill>
            <a:srgbClr val="DC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07492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DC3535"/>
                </a:solidFill>
                <a:latin typeface="微软雅黑"/>
                <a:ea typeface="微软雅黑"/>
              </a:rPr>
              <a:t>BugType</a:t>
            </a:r>
            <a:endParaRPr sz="1200" b="1">
              <a:solidFill>
                <a:srgbClr val="DC3535"/>
              </a:solidFill>
              <a:latin typeface="微软雅黑"/>
              <a:ea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544068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bug_type 枚举值（21种）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063240" y="4983480"/>
            <a:ext cx="20116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63240" y="4983480"/>
            <a:ext cx="2011680" cy="381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3240" y="507492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E3A5F"/>
                </a:solidFill>
                <a:latin typeface="微软雅黑"/>
                <a:ea typeface="微软雅黑"/>
              </a:rPr>
              <a:t>Subsystem</a:t>
            </a:r>
            <a:endParaRPr sz="1200" b="1">
              <a:solidFill>
                <a:srgbClr val="1E3A5F"/>
              </a:solidFill>
              <a:latin typeface="微软雅黑"/>
              <a:ea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063240" y="544068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subsystem 枚举值（28个）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303520" y="4983480"/>
            <a:ext cx="20116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0" y="4983480"/>
            <a:ext cx="2011680" cy="381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507492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8792B"/>
                </a:solidFill>
                <a:latin typeface="微软雅黑"/>
                <a:ea typeface="微软雅黑"/>
              </a:rPr>
              <a:t>RootCause</a:t>
            </a:r>
            <a:endParaRPr sz="1200" b="1">
              <a:solidFill>
                <a:srgbClr val="E8792B"/>
              </a:solidFill>
              <a:latin typeface="微软雅黑"/>
              <a:ea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03520" y="544068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根因描述（规则推断+LLM生成）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543800" y="4983480"/>
            <a:ext cx="20116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43800" y="4983480"/>
            <a:ext cx="2011680" cy="381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507492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2E8B57"/>
                </a:solidFill>
                <a:latin typeface="微软雅黑"/>
                <a:ea typeface="微软雅黑"/>
              </a:rPr>
              <a:t>FixPattern</a:t>
            </a:r>
            <a:endParaRPr sz="1200" b="1">
              <a:solidFill>
                <a:srgbClr val="2E8B57"/>
              </a:solidFill>
              <a:latin typeface="微软雅黑"/>
              <a:ea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543800" y="544068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修复模式（锁添加/空指针检查/RCU保护...）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784080" y="4983480"/>
            <a:ext cx="20116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4983480"/>
            <a:ext cx="2011680" cy="3810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507492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5568"/>
                </a:solidFill>
                <a:latin typeface="微软雅黑"/>
                <a:ea typeface="微软雅黑"/>
              </a:rPr>
              <a:t>Symptoms</a:t>
            </a:r>
            <a:endParaRPr sz="1200" b="1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784080" y="544068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关键症状关键词（Panic/Error/Call Trace...）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2960" y="6400800"/>
            <a:ext cx="10515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50" b="1">
                <a:solidFill>
                  <a:srgbClr val="E8792B"/>
                </a:solidFill>
                <a:latin typeface="微软雅黑"/>
                <a:ea typeface="微软雅黑"/>
              </a:rPr>
              <a:t>★ 核心关键：离线侧与在线侧使用完全相同的字段结构生成 embedding 文本，确保 BGE-M3 编码后在相同语义空间可比较 ★</a:t>
            </a:r>
            <a:endParaRPr sz="950" b="1">
              <a:solidFill>
                <a:srgbClr val="E8792B"/>
              </a:solidFill>
              <a:latin typeface="微软雅黑"/>
              <a:ea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</a:pPr>
            <a:r>
              <a:rPr lang="en-US" sz="900" b="0">
                <a:solidFill>
                  <a:srgbClr val="4A5568"/>
                </a:solidFill>
                <a:latin typeface="微软雅黑"/>
                <a:ea typeface="微软雅黑"/>
              </a:rPr>
              <a:t>15</a:t>
            </a: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en-US" sz="900">
                <a:solidFill>
                  <a:srgbClr val="4A5568"/>
                </a:solidFill>
                <a:latin typeface="微软雅黑"/>
                <a:ea typeface="微软雅黑"/>
                <a:sym typeface="+mn-ea"/>
              </a:rPr>
              <a:t>26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4</a:t>
            </a:r>
            <a:endParaRPr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2004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1B2D"/>
                </a:solidFill>
                <a:latin typeface="微软雅黑"/>
                <a:ea typeface="微软雅黑"/>
              </a:rPr>
              <a:t>离线核心： Commit 的结构化与向量化</a:t>
            </a:r>
            <a:endParaRPr sz="26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34440" y="77724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A5568"/>
                </a:solidFill>
                <a:latin typeface="Arial" panose="020B0604020202020204"/>
                <a:ea typeface="Arial" panose="020B0604020202020204"/>
              </a:rPr>
              <a:t>Offline Core: Structured Indexing of Million-Scale Commits</a:t>
            </a:r>
            <a:endParaRPr sz="1200" b="0">
              <a:solidFill>
                <a:srgbClr val="4A5568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463040"/>
            <a:ext cx="18288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60020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0F1B2D"/>
                </a:solidFill>
                <a:latin typeface="微软雅黑"/>
                <a:ea typeface="微软雅黑"/>
              </a:rPr>
              <a:t>Linux Kernel
Git Repo
(145万+ commits)</a:t>
            </a:r>
            <a:endParaRPr sz="10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03120" y="2011680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792B"/>
                </a:solidFill>
                <a:latin typeface="微软雅黑"/>
                <a:ea typeface="微软雅黑"/>
              </a:rPr>
              <a:t>▸</a:t>
            </a:r>
            <a:endParaRPr sz="2000" b="1">
              <a:solidFill>
                <a:srgbClr val="E8792B"/>
              </a:solidFill>
              <a:latin typeface="微软雅黑"/>
              <a:ea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286000" y="1463040"/>
            <a:ext cx="18288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160020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1E3A5F"/>
                </a:solidFill>
                <a:latin typeface="微软雅黑"/>
                <a:ea typeface="微软雅黑"/>
              </a:rPr>
              <a:t>PyDriller
流式遍历
O(1)内存</a:t>
            </a:r>
            <a:endParaRPr sz="1000" b="1">
              <a:solidFill>
                <a:srgbClr val="1E3A5F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14800" y="2011680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792B"/>
                </a:solidFill>
                <a:latin typeface="微软雅黑"/>
                <a:ea typeface="微软雅黑"/>
              </a:rPr>
              <a:t>▸</a:t>
            </a:r>
            <a:endParaRPr sz="2000" b="1">
              <a:solidFill>
                <a:srgbClr val="E8792B"/>
              </a:solidFill>
              <a:latin typeface="微软雅黑"/>
              <a:ea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297680" y="1463040"/>
            <a:ext cx="18288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60020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1E3A5F"/>
                </a:solidFill>
                <a:latin typeface="微软雅黑"/>
                <a:ea typeface="微软雅黑"/>
              </a:rPr>
              <a:t>结构化提取
Subsystem(28)
BugType(21)</a:t>
            </a:r>
            <a:endParaRPr sz="1000" b="1">
              <a:solidFill>
                <a:srgbClr val="1E3A5F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26480" y="2011680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792B"/>
                </a:solidFill>
                <a:latin typeface="微软雅黑"/>
                <a:ea typeface="微软雅黑"/>
              </a:rPr>
              <a:t>▸</a:t>
            </a:r>
            <a:endParaRPr sz="2000" b="1">
              <a:solidFill>
                <a:srgbClr val="E8792B"/>
              </a:solidFill>
              <a:latin typeface="微软雅黑"/>
              <a:ea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309360" y="1463040"/>
            <a:ext cx="18288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7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60020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E8792B"/>
                </a:solidFill>
                <a:latin typeface="微软雅黑"/>
                <a:ea typeface="微软雅黑"/>
              </a:rPr>
              <a:t>CommitRootCause
Builder
3层分析引擎</a:t>
            </a:r>
            <a:endParaRPr sz="1000" b="1">
              <a:solidFill>
                <a:srgbClr val="E8792B"/>
              </a:solidFill>
              <a:latin typeface="微软雅黑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38160" y="2011680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792B"/>
                </a:solidFill>
                <a:latin typeface="微软雅黑"/>
                <a:ea typeface="微软雅黑"/>
              </a:rPr>
              <a:t>▸</a:t>
            </a:r>
            <a:endParaRPr sz="2000" b="1">
              <a:solidFill>
                <a:srgbClr val="E8792B"/>
              </a:solidFill>
              <a:latin typeface="微软雅黑"/>
              <a:ea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321040" y="1463040"/>
            <a:ext cx="18288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7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60020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E8792B"/>
                </a:solidFill>
                <a:latin typeface="微软雅黑"/>
                <a:ea typeface="微软雅黑"/>
              </a:rPr>
              <a:t>BGE-M3
向量编码
GPU加速</a:t>
            </a:r>
            <a:endParaRPr sz="1000" b="1">
              <a:solidFill>
                <a:srgbClr val="E8792B"/>
              </a:solidFill>
              <a:latin typeface="微软雅黑"/>
              <a:ea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149840" y="2011680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792B"/>
                </a:solidFill>
                <a:latin typeface="微软雅黑"/>
                <a:ea typeface="微软雅黑"/>
              </a:rPr>
              <a:t>▸</a:t>
            </a:r>
            <a:endParaRPr sz="2000" b="1">
              <a:solidFill>
                <a:srgbClr val="E8792B"/>
              </a:solidFill>
              <a:latin typeface="微软雅黑"/>
              <a:ea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0332720" y="1463040"/>
            <a:ext cx="18288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0" y="160020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2E8B57"/>
                </a:solidFill>
                <a:latin typeface="微软雅黑"/>
                <a:ea typeface="微软雅黑"/>
              </a:rPr>
              <a:t>Milvus/FAISS
向量存储
IP度量索引</a:t>
            </a:r>
            <a:endParaRPr sz="1000" b="1">
              <a:solidFill>
                <a:srgbClr val="2E8B57"/>
              </a:solidFill>
              <a:latin typeface="微软雅黑"/>
              <a:ea typeface="微软雅黑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74320" y="3383280"/>
            <a:ext cx="56692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47472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3A5F"/>
                </a:solidFill>
                <a:latin typeface="微软雅黑"/>
                <a:ea typeface="微软雅黑"/>
              </a:rPr>
              <a:t>▎CommitRootCauseBuilder 轻量引擎（3层，3-5ms/commit）</a:t>
            </a:r>
            <a:endParaRPr sz="1300" b="1">
              <a:solidFill>
                <a:srgbClr val="1E3A5F"/>
              </a:solidFill>
              <a:latin typeface="微软雅黑"/>
              <a:ea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7200" y="3931920"/>
            <a:ext cx="5303520" cy="2468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第1层：BUG_TEMPLATE 查表匹配
  • 10种预定义Bug模式模板（NULL pointer / UAF / deadlock / race...）
  • 正则匹配 Commit message body + diff 特征代码
第2层：DIFF_RULES 规则分析（25条）
  • 锁相关规则（8条）：spin_lock_irqsave检测、mutex_lock模式匹配
  • RCU规则（4条）：rcu_read_lock配对检查、rcu_dereference保护
  • 引用计数规则（4条）：kref_get/put配对、refcount_t溢出检查
  • 内存规则（5条）：kmalloc/kfree配对、slab分配器使用模式
  • 其他规则（4条）：错误路径处理、空指针检查、边界检查
第3层：置信度评估
  • 综合规则命中数 + Fixes:/Cc:stable标签 → 置信度 0~1.0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217920" y="3383280"/>
            <a:ext cx="54864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47472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792B"/>
                </a:solidFill>
                <a:latin typeface="微软雅黑"/>
                <a:ea typeface="微软雅黑"/>
              </a:rPr>
              <a:t>▎关键性能指标</a:t>
            </a:r>
            <a:endParaRPr sz="1300" b="1">
              <a:solidFill>
                <a:srgbClr val="E8792B"/>
              </a:solidFill>
              <a:latin typeface="微软雅黑"/>
              <a:ea typeface="微软雅黑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400800" y="3931920"/>
            <a:ext cx="1234440" cy="137160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69080"/>
            <a:ext cx="1234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1E3A5F"/>
                </a:solidFill>
                <a:latin typeface="微软雅黑"/>
                <a:ea typeface="微软雅黑"/>
              </a:rPr>
              <a:t>3-5ms</a:t>
            </a:r>
            <a:endParaRPr sz="2200" b="1">
              <a:solidFill>
                <a:srgbClr val="1E3A5F"/>
              </a:solidFill>
              <a:latin typeface="微软雅黑"/>
              <a:ea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00800" y="4572000"/>
            <a:ext cx="1234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单条Commit
处理耗时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726680" y="3931920"/>
            <a:ext cx="1234440" cy="137160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26680" y="4069080"/>
            <a:ext cx="1234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lang="en-US" sz="2200" b="1">
                <a:solidFill>
                  <a:srgbClr val="E8792B"/>
                </a:solidFill>
                <a:latin typeface="微软雅黑"/>
                <a:ea typeface="微软雅黑"/>
              </a:rPr>
              <a:t>31</a:t>
            </a:r>
            <a:r>
              <a:rPr sz="2200" b="1">
                <a:solidFill>
                  <a:srgbClr val="E8792B"/>
                </a:solidFill>
                <a:latin typeface="微软雅黑"/>
                <a:ea typeface="微软雅黑"/>
              </a:rPr>
              <a:t>万+</a:t>
            </a:r>
            <a:endParaRPr sz="2200" b="1">
              <a:solidFill>
                <a:srgbClr val="E8792B"/>
              </a:solidFill>
              <a:latin typeface="微软雅黑"/>
              <a:ea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726680" y="4572000"/>
            <a:ext cx="1234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Commit
索引规模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052560" y="3931920"/>
            <a:ext cx="1234440" cy="137160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0" y="4069080"/>
            <a:ext cx="1234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2E8B57"/>
                </a:solidFill>
                <a:latin typeface="微软雅黑"/>
                <a:ea typeface="微软雅黑"/>
              </a:rPr>
              <a:t>O(1)</a:t>
            </a:r>
            <a:endParaRPr sz="2200" b="1">
              <a:solidFill>
                <a:srgbClr val="2E8B57"/>
              </a:solidFill>
              <a:latin typeface="微软雅黑"/>
              <a:ea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052560" y="4572000"/>
            <a:ext cx="1234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内存占用
流式生成器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10378440" y="3931920"/>
            <a:ext cx="1234440" cy="137160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78440" y="4069080"/>
            <a:ext cx="1234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1E3A5F"/>
                </a:solidFill>
                <a:latin typeface="微软雅黑"/>
                <a:ea typeface="微软雅黑"/>
              </a:rPr>
              <a:t>3.1</a:t>
            </a:r>
            <a:r>
              <a:rPr lang="en-US" sz="2200" b="1">
                <a:solidFill>
                  <a:srgbClr val="1E3A5F"/>
                </a:solidFill>
                <a:latin typeface="微软雅黑"/>
                <a:ea typeface="微软雅黑"/>
              </a:rPr>
              <a:t>G</a:t>
            </a:r>
            <a:r>
              <a:rPr sz="2200" b="1">
                <a:solidFill>
                  <a:srgbClr val="1E3A5F"/>
                </a:solidFill>
                <a:latin typeface="微软雅黑"/>
                <a:ea typeface="微软雅黑"/>
              </a:rPr>
              <a:t>B</a:t>
            </a:r>
            <a:endParaRPr sz="2200" b="1">
              <a:solidFill>
                <a:srgbClr val="1E3A5F"/>
              </a:solidFill>
              <a:latin typeface="微软雅黑"/>
              <a:ea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378440" y="4572000"/>
            <a:ext cx="1234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FAISS
索引大小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00800" y="5440680"/>
            <a:ext cx="51206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其他特性：
• 断点续跑：--resume 参数支持中断恢复
• 批量GPU编码：batch_size可配置
• 双后端：Milvus </a:t>
            </a:r>
            <a:r>
              <a:rPr lang="en-US" sz="900" b="0">
                <a:solidFill>
                  <a:srgbClr val="4A5568"/>
                </a:solidFill>
                <a:latin typeface="微软雅黑"/>
                <a:ea typeface="微软雅黑"/>
              </a:rPr>
              <a:t>/</a:t>
            </a: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 FAISS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• 版本标注：commit date → kernel release version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</a:pPr>
            <a:r>
              <a:rPr lang="en-US" sz="900" b="0">
                <a:solidFill>
                  <a:srgbClr val="4A5568"/>
                </a:solidFill>
                <a:latin typeface="微软雅黑"/>
                <a:ea typeface="微软雅黑"/>
              </a:rPr>
              <a:t>16</a:t>
            </a: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en-US" sz="900">
                <a:solidFill>
                  <a:srgbClr val="4A5568"/>
                </a:solidFill>
                <a:latin typeface="微软雅黑"/>
                <a:ea typeface="微软雅黑"/>
                <a:sym typeface="+mn-ea"/>
              </a:rPr>
              <a:t>26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34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微软雅黑"/>
              </a:rPr>
              <a:t>4</a:t>
            </a:r>
            <a:endParaRPr lang="en-US"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2004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1B2D"/>
                </a:solidFill>
                <a:latin typeface="微软雅黑"/>
                <a:ea typeface="微软雅黑"/>
              </a:rPr>
              <a:t>在线核心：秒级精准检索的四阶段链路</a:t>
            </a:r>
            <a:endParaRPr sz="26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34440" y="77724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A5568"/>
                </a:solidFill>
                <a:latin typeface="Arial" panose="020B0604020202020204"/>
                <a:ea typeface="Arial" panose="020B0604020202020204"/>
              </a:rPr>
              <a:t>Online Core: Four-Stage Precision Retrieval Pipeline</a:t>
            </a:r>
            <a:endParaRPr sz="1200" b="0">
              <a:solidFill>
                <a:srgbClr val="4A5568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5120" y="3245485"/>
            <a:ext cx="3521075" cy="76581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5120" y="3245485"/>
            <a:ext cx="76200" cy="76581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3805" y="3335020"/>
            <a:ext cx="1570355" cy="64198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3A5F"/>
                </a:solidFill>
                <a:latin typeface="微软雅黑"/>
                <a:ea typeface="微软雅黑"/>
              </a:rPr>
              <a:t>Stage 1: </a:t>
            </a:r>
            <a:endParaRPr sz="1100" b="1">
              <a:solidFill>
                <a:srgbClr val="1E3A5F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1E3A5F"/>
                </a:solidFill>
                <a:latin typeface="微软雅黑"/>
                <a:ea typeface="微软雅黑"/>
              </a:rPr>
              <a:t>Recall向量快速召回</a:t>
            </a:r>
            <a:endParaRPr sz="1100" b="1">
              <a:solidFill>
                <a:srgbClr val="1E3A5F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24647" y="2331720"/>
            <a:ext cx="10972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1E3A5F"/>
                </a:solidFill>
                <a:latin typeface="微软雅黑"/>
                <a:ea typeface="微软雅黑"/>
              </a:rPr>
              <a:t>Top-100</a:t>
            </a:r>
            <a:endParaRPr sz="1800" b="1">
              <a:solidFill>
                <a:srgbClr val="1E3A5F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13367" y="2331720"/>
            <a:ext cx="12801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4A5568"/>
                </a:solidFill>
                <a:latin typeface="微软雅黑"/>
                <a:ea typeface="微软雅黑"/>
              </a:rPr>
              <a:t>&lt; 50ms</a:t>
            </a:r>
            <a:endParaRPr sz="10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79730" y="4206240"/>
            <a:ext cx="3465830" cy="79121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967" y="4222115"/>
            <a:ext cx="54864" cy="7772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334510"/>
            <a:ext cx="1767205" cy="5524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E8B57"/>
                </a:solidFill>
                <a:latin typeface="微软雅黑"/>
                <a:ea typeface="微软雅黑"/>
              </a:rPr>
              <a:t>Stage 2: </a:t>
            </a:r>
            <a:endParaRPr sz="1100" b="1">
              <a:solidFill>
                <a:srgbClr val="2E8B57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2E8B57"/>
                </a:solidFill>
                <a:latin typeface="微软雅黑"/>
                <a:ea typeface="微软雅黑"/>
              </a:rPr>
              <a:t>Filter规则硬过滤</a:t>
            </a:r>
            <a:endParaRPr sz="1100" b="1">
              <a:solidFill>
                <a:srgbClr val="2E8B57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12567" y="4251960"/>
            <a:ext cx="10972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2E8B57"/>
                </a:solidFill>
                <a:latin typeface="微软雅黑"/>
                <a:ea typeface="微软雅黑"/>
              </a:rPr>
              <a:t>50-80</a:t>
            </a:r>
            <a:endParaRPr sz="1400" b="1">
              <a:solidFill>
                <a:srgbClr val="2E8B57"/>
              </a:solidFill>
              <a:latin typeface="微软雅黑"/>
              <a:ea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79730" y="5189855"/>
            <a:ext cx="3430270" cy="776605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7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4967" y="5189220"/>
            <a:ext cx="54864" cy="77724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74927" y="5357495"/>
            <a:ext cx="32004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8792B"/>
                </a:solidFill>
                <a:latin typeface="微软雅黑"/>
                <a:ea typeface="微软雅黑"/>
              </a:rPr>
              <a:t>Stage 3: </a:t>
            </a:r>
            <a:endParaRPr sz="1100" b="1">
              <a:solidFill>
                <a:srgbClr val="E8792B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E8792B"/>
                </a:solidFill>
                <a:latin typeface="微软雅黑"/>
                <a:ea typeface="微软雅黑"/>
              </a:rPr>
              <a:t>Rerank深度语义重排</a:t>
            </a:r>
            <a:endParaRPr sz="1100" b="1">
              <a:solidFill>
                <a:srgbClr val="E8792B"/>
              </a:solidFill>
              <a:latin typeface="微软雅黑"/>
              <a:ea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712567" y="5212080"/>
            <a:ext cx="10972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E8792B"/>
                </a:solidFill>
                <a:latin typeface="微软雅黑"/>
                <a:ea typeface="微软雅黑"/>
              </a:rPr>
              <a:t>Top-20</a:t>
            </a:r>
            <a:endParaRPr sz="1400" b="1">
              <a:solidFill>
                <a:srgbClr val="E8792B"/>
              </a:solidFill>
              <a:latin typeface="微软雅黑"/>
              <a:ea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98145" y="6080760"/>
            <a:ext cx="343154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4967" y="6080760"/>
            <a:ext cx="54864" cy="777240"/>
          </a:xfrm>
          <a:prstGeom prst="rect">
            <a:avLst/>
          </a:prstGeom>
          <a:solidFill>
            <a:srgbClr val="DC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287" y="6172200"/>
            <a:ext cx="32004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C3535"/>
                </a:solidFill>
                <a:latin typeface="微软雅黑"/>
                <a:ea typeface="微软雅黑"/>
              </a:rPr>
              <a:t>Stage 4: </a:t>
            </a:r>
            <a:endParaRPr sz="1100" b="1">
              <a:solidFill>
                <a:srgbClr val="DC3535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DC3535"/>
                </a:solidFill>
                <a:latin typeface="微软雅黑"/>
                <a:ea typeface="微软雅黑"/>
              </a:rPr>
              <a:t>LLM Judge因果推理评分</a:t>
            </a:r>
            <a:endParaRPr sz="1100" b="1">
              <a:solidFill>
                <a:srgbClr val="DC3535"/>
              </a:solidFill>
              <a:latin typeface="微软雅黑"/>
              <a:ea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580515" y="6080760"/>
            <a:ext cx="2781300" cy="862330"/>
          </a:xfrm>
          <a:prstGeom prst="rect">
            <a:avLst/>
          </a:prstGeom>
          <a:noFill/>
        </p:spPr>
        <p:txBody>
          <a:bodyPr wrap="square"/>
          <a:lstStyle/>
          <a:p>
            <a:pPr lvl="1" algn="ctr">
              <a:lnSpc>
                <a:spcPct val="120000"/>
              </a:lnSpc>
            </a:pPr>
            <a:r>
              <a:rPr sz="1400" b="1">
                <a:solidFill>
                  <a:srgbClr val="DC3535"/>
                </a:solidFill>
                <a:latin typeface="微软雅黑"/>
                <a:ea typeface="微软雅黑"/>
              </a:rPr>
              <a:t>Top3~5</a:t>
            </a:r>
            <a:endParaRPr sz="1400" b="1">
              <a:solidFill>
                <a:srgbClr val="DC3535"/>
              </a:solidFill>
              <a:latin typeface="微软雅黑"/>
              <a:ea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321435" y="388620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E8792B"/>
                </a:solidFill>
                <a:latin typeface="微软雅黑"/>
                <a:ea typeface="微软雅黑"/>
              </a:rPr>
              <a:t>▼</a:t>
            </a:r>
            <a:endParaRPr sz="1600" b="0">
              <a:solidFill>
                <a:srgbClr val="E8792B"/>
              </a:solidFill>
              <a:latin typeface="微软雅黑"/>
              <a:ea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321435" y="48869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E8792B"/>
                </a:solidFill>
                <a:latin typeface="微软雅黑"/>
                <a:ea typeface="微软雅黑"/>
              </a:rPr>
              <a:t>▼</a:t>
            </a:r>
            <a:endParaRPr sz="1600" b="0">
              <a:solidFill>
                <a:srgbClr val="E8792B"/>
              </a:solidFill>
              <a:latin typeface="微软雅黑"/>
              <a:ea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321435" y="580644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E8792B"/>
                </a:solidFill>
                <a:latin typeface="微软雅黑"/>
                <a:ea typeface="微软雅黑"/>
              </a:rPr>
              <a:t>▼</a:t>
            </a:r>
            <a:endParaRPr sz="1600" b="0">
              <a:solidFill>
                <a:srgbClr val="E8792B"/>
              </a:solidFill>
              <a:latin typeface="微软雅黑"/>
              <a:ea typeface="微软雅黑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75488" y="1371600"/>
            <a:ext cx="45720" cy="1554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138160" y="1325880"/>
            <a:ext cx="35661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56448" y="1371600"/>
            <a:ext cx="45720" cy="155448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14173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792B"/>
                </a:solidFill>
                <a:latin typeface="微软雅黑"/>
                <a:ea typeface="微软雅黑"/>
              </a:rPr>
              <a:t>输出报告</a:t>
            </a:r>
            <a:endParaRPr sz="1200" b="1">
              <a:solidFill>
                <a:srgbClr val="E8792B"/>
              </a:solidFill>
              <a:latin typeface="微软雅黑"/>
              <a:ea typeface="微软雅黑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321040" y="1737360"/>
            <a:ext cx="3200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A5568"/>
                </a:solidFill>
                <a:latin typeface="微软雅黑"/>
                <a:ea typeface="微软雅黑"/>
              </a:rPr>
              <a:t>Markdown/JSON格式
补丁列表 + 匹配理由
置信度评分 + 因果链
可解释诊断报告</a:t>
            </a:r>
            <a:endParaRPr sz="95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</a:pPr>
            <a:r>
              <a:rPr lang="en-US" sz="900" b="0">
                <a:solidFill>
                  <a:srgbClr val="4A5568"/>
                </a:solidFill>
                <a:latin typeface="微软雅黑"/>
                <a:ea typeface="微软雅黑"/>
              </a:rPr>
              <a:t>17</a:t>
            </a: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en-US" sz="900">
                <a:solidFill>
                  <a:srgbClr val="4A5568"/>
                </a:solidFill>
                <a:latin typeface="微软雅黑"/>
                <a:ea typeface="微软雅黑"/>
                <a:sym typeface="+mn-ea"/>
              </a:rPr>
              <a:t>26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59" name="Rounded Rectangle 31"/>
          <p:cNvSpPr/>
          <p:nvPr/>
        </p:nvSpPr>
        <p:spPr>
          <a:xfrm>
            <a:off x="517525" y="1371600"/>
            <a:ext cx="35661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33"/>
          <p:cNvSpPr txBox="1"/>
          <p:nvPr/>
        </p:nvSpPr>
        <p:spPr>
          <a:xfrm>
            <a:off x="700405" y="146304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3A5F"/>
                </a:solidFill>
                <a:latin typeface="微软雅黑"/>
                <a:ea typeface="微软雅黑"/>
              </a:rPr>
              <a:t>输入处理</a:t>
            </a:r>
            <a:endParaRPr sz="1200" b="1">
              <a:solidFill>
                <a:srgbClr val="1E3A5F"/>
              </a:solidFill>
              <a:latin typeface="微软雅黑"/>
              <a:ea typeface="微软雅黑"/>
            </a:endParaRPr>
          </a:p>
        </p:txBody>
      </p:sp>
      <p:sp>
        <p:nvSpPr>
          <p:cNvPr id="61" name="TextBox 34"/>
          <p:cNvSpPr txBox="1"/>
          <p:nvPr/>
        </p:nvSpPr>
        <p:spPr>
          <a:xfrm>
            <a:off x="700405" y="1783080"/>
            <a:ext cx="3200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A5568"/>
                </a:solidFill>
                <a:latin typeface="微软雅黑"/>
                <a:ea typeface="微软雅黑"/>
              </a:rPr>
              <a:t>dmesg文本 → 20+Panic模式正则
vmcore → drgn内核对象提取
自然语言 → LLM特征提取
→ CrashFeature</a:t>
            </a:r>
            <a:endParaRPr sz="95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65" name="Rounded Rectangle 36"/>
          <p:cNvSpPr/>
          <p:nvPr/>
        </p:nvSpPr>
        <p:spPr>
          <a:xfrm>
            <a:off x="4178935" y="1371600"/>
            <a:ext cx="35661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37"/>
          <p:cNvSpPr/>
          <p:nvPr/>
        </p:nvSpPr>
        <p:spPr>
          <a:xfrm>
            <a:off x="4197223" y="1417320"/>
            <a:ext cx="45720" cy="15544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38"/>
          <p:cNvSpPr txBox="1"/>
          <p:nvPr/>
        </p:nvSpPr>
        <p:spPr>
          <a:xfrm>
            <a:off x="4361815" y="146304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E8B57"/>
                </a:solidFill>
                <a:latin typeface="微软雅黑"/>
                <a:ea typeface="微软雅黑"/>
              </a:rPr>
              <a:t>检索模式</a:t>
            </a:r>
            <a:endParaRPr sz="1200" b="1">
              <a:solidFill>
                <a:srgbClr val="2E8B57"/>
              </a:solidFill>
              <a:latin typeface="微软雅黑"/>
              <a:ea typeface="微软雅黑"/>
            </a:endParaRPr>
          </a:p>
        </p:txBody>
      </p:sp>
      <p:sp>
        <p:nvSpPr>
          <p:cNvPr id="68" name="TextBox 39"/>
          <p:cNvSpPr txBox="1"/>
          <p:nvPr/>
        </p:nvSpPr>
        <p:spPr>
          <a:xfrm>
            <a:off x="4361815" y="1783080"/>
            <a:ext cx="3200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A5568"/>
                </a:solidFill>
                <a:latin typeface="微软雅黑"/>
                <a:ea typeface="微软雅黑"/>
              </a:rPr>
              <a:t>fast: &lt;100ms (仅Recall)
standard: &lt;1s (Recall+Rerank)
deep: 2-10s (全四阶段)
灵活按需选择</a:t>
            </a:r>
            <a:endParaRPr sz="95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微软雅黑"/>
              </a:rPr>
              <a:t>4</a:t>
            </a:r>
            <a:endParaRPr lang="en-US"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2004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1B2D"/>
                </a:solidFill>
                <a:latin typeface="微软雅黑"/>
                <a:ea typeface="微软雅黑"/>
              </a:rPr>
              <a:t>核心技术亮点与关键性能指标</a:t>
            </a:r>
            <a:endParaRPr sz="26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34440" y="77724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A5568"/>
                </a:solidFill>
                <a:latin typeface="Arial" panose="020B0604020202020204"/>
                <a:ea typeface="Arial" panose="020B0604020202020204"/>
              </a:rPr>
              <a:t>Technical Highlights &amp; Key Performance Metrics</a:t>
            </a:r>
            <a:endParaRPr sz="1200" b="0">
              <a:solidFill>
                <a:srgbClr val="4A5568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B2D"/>
                </a:solidFill>
                <a:latin typeface="微软雅黑"/>
                <a:ea typeface="微软雅黑"/>
              </a:rPr>
              <a:t>▎核心技术亮点</a:t>
            </a:r>
            <a:endParaRPr sz="15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53035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1874520"/>
            <a:ext cx="45720" cy="59436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7452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E8792B"/>
                </a:solidFill>
                <a:latin typeface="微软雅黑"/>
                <a:ea typeface="微软雅黑"/>
              </a:rPr>
              <a:t>⭐ 语义对称嵌入</a:t>
            </a:r>
            <a:endParaRPr sz="1150" b="1">
              <a:solidFill>
                <a:srgbClr val="E8792B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214884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解决核心语义鸿沟问题
相似度从 0.3 → 0.85（提升 2.8x）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7200" y="2606040"/>
            <a:ext cx="53035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" y="2651760"/>
            <a:ext cx="45720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5176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1E3A5F"/>
                </a:solidFill>
                <a:latin typeface="微软雅黑"/>
                <a:ea typeface="微软雅黑"/>
              </a:rPr>
              <a:t>🔍 四阶段检索</a:t>
            </a:r>
            <a:endParaRPr sz="1150" b="1">
              <a:solidFill>
                <a:srgbClr val="1E3A5F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292608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兼顾召回率（95%+）与效率（秒级响应）
100→80→20→5 漏斗式精准收敛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57200" y="3383280"/>
            <a:ext cx="53035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" y="3429000"/>
            <a:ext cx="45720" cy="5943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2900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2E8B57"/>
                </a:solidFill>
                <a:latin typeface="微软雅黑"/>
                <a:ea typeface="微软雅黑"/>
              </a:rPr>
              <a:t>📋 版本感知</a:t>
            </a:r>
            <a:endParaRPr sz="1150" b="1">
              <a:solidFill>
                <a:srgbClr val="2E8B57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370332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内核版本敏感的过滤与匹配
覆盖 kernel 4.9 ~ 6.13 全版本标注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7200" y="4160520"/>
            <a:ext cx="53035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" y="4206240"/>
            <a:ext cx="45720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20624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1E3A5F"/>
                </a:solidFill>
                <a:latin typeface="微软雅黑"/>
                <a:ea typeface="微软雅黑"/>
              </a:rPr>
              <a:t>🧩 多模态融合</a:t>
            </a:r>
            <a:endParaRPr sz="1150" b="1">
              <a:solidFill>
                <a:srgbClr val="1E3A5F"/>
              </a:solidFill>
              <a:latin typeface="微软雅黑"/>
              <a:ea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5800" y="448056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drgn解析 vmcore + LLM分析 dmesg
+ 规则匹配，异构数据统一处理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57200" y="4937760"/>
            <a:ext cx="53035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5488" y="4983480"/>
            <a:ext cx="45720" cy="5943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8348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2E8B57"/>
                </a:solidFill>
                <a:latin typeface="微软雅黑"/>
                <a:ea typeface="微软雅黑"/>
              </a:rPr>
              <a:t>🛡️ 容错降级</a:t>
            </a:r>
            <a:endParaRPr sz="1150" b="1">
              <a:solidFill>
                <a:srgbClr val="2E8B57"/>
              </a:solidFill>
              <a:latin typeface="微软雅黑"/>
              <a:ea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5800" y="525780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Milvus→FAISS、LLM→规则引擎
三级自动降级，核心功能不受影响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57200" y="5715000"/>
            <a:ext cx="53035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5488" y="5760720"/>
            <a:ext cx="45720" cy="59436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76072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E8792B"/>
                </a:solidFill>
                <a:latin typeface="微软雅黑"/>
                <a:ea typeface="微软雅黑"/>
              </a:rPr>
              <a:t>🆓 免费可用</a:t>
            </a:r>
            <a:endParaRPr sz="1150" b="1">
              <a:solidFill>
                <a:srgbClr val="E8792B"/>
              </a:solidFill>
              <a:latin typeface="微软雅黑"/>
              <a:ea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5800" y="603504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集成Ollama本地大模型
无需API Key即可使用LLM分析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217920" y="1256665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B2D"/>
                </a:solidFill>
                <a:latin typeface="微软雅黑"/>
                <a:ea typeface="微软雅黑"/>
              </a:rPr>
              <a:t>▎关键性能指标</a:t>
            </a:r>
            <a:endParaRPr sz="15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309360" y="1619250"/>
          <a:ext cx="53035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指标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E87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目标值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E87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说明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E879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离线索引耗时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3-5ms/条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百万级全量索引可行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在线诊断耗时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~100ms/次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根因分析+检索+LLM判优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检索召回率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≥95% (Top-100)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覆盖95%以上相关补丁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匹配精度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≥80% (Top-5)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Top-5命中修复补丁比例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端到端延迟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&lt;3s (standard)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提交日志到返回结果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API响应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&lt;500ms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统计/搜索接口响应时间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并发支持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50+ QPS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FastAPI异步处理能力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索引规模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312,632条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全量模式覆盖4.9~6.13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6217920" y="5120640"/>
            <a:ext cx="530352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506984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1B2D"/>
                </a:solidFill>
                <a:latin typeface="微软雅黑"/>
                <a:ea typeface="微软雅黑"/>
              </a:rPr>
              <a:t>▎三种检索模式对比</a:t>
            </a:r>
            <a:endParaRPr sz="12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37" name="Table 3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639560" y="5316220"/>
          <a:ext cx="4460875" cy="1241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130"/>
                <a:gridCol w="800100"/>
                <a:gridCol w="644525"/>
                <a:gridCol w="792480"/>
                <a:gridCol w="619760"/>
                <a:gridCol w="944880"/>
              </a:tblGrid>
              <a:tr h="34607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模式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Recall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Filter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Rerank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LLM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延迟</a:t>
                      </a:r>
                      <a:endParaRPr sz="11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fast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✅ </a:t>
                      </a:r>
                      <a:r>
                        <a:rPr sz="900">
                          <a:solidFill>
                            <a:srgbClr val="1A202C"/>
                          </a:solidFill>
                          <a:latin typeface="微软雅黑"/>
                        </a:rPr>
                        <a:t>Top-50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✅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❌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❌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&lt; 100ms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standard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✅ </a:t>
                      </a:r>
                      <a:r>
                        <a:rPr sz="900">
                          <a:solidFill>
                            <a:srgbClr val="1A202C"/>
                          </a:solidFill>
                          <a:latin typeface="微软雅黑"/>
                        </a:rPr>
                        <a:t>Top-100</a:t>
                      </a:r>
                      <a:endParaRPr sz="9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✅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✅ BGE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❌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&lt; 1s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/>
                </a:tc>
              </a:tr>
              <a:tr h="149225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deep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✅ </a:t>
                      </a:r>
                      <a:r>
                        <a:rPr sz="900">
                          <a:solidFill>
                            <a:srgbClr val="1A202C"/>
                          </a:solidFill>
                          <a:latin typeface="微软雅黑"/>
                        </a:rPr>
                        <a:t>Top-200</a:t>
                      </a:r>
                      <a:endParaRPr sz="9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✅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✅ BGE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✅ LLM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202C"/>
                          </a:solidFill>
                          <a:latin typeface="微软雅黑"/>
                        </a:rPr>
                        <a:t>2-10s</a:t>
                      </a:r>
                      <a:endParaRPr sz="1000">
                        <a:solidFill>
                          <a:srgbClr val="1A202C"/>
                        </a:solidFill>
                        <a:latin typeface="微软雅黑"/>
                      </a:endParaRP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</a:pPr>
            <a:r>
              <a:rPr lang="en-US" sz="900" b="0">
                <a:solidFill>
                  <a:srgbClr val="4A5568"/>
                </a:solidFill>
                <a:latin typeface="微软雅黑"/>
                <a:ea typeface="微软雅黑"/>
              </a:rPr>
              <a:t>18</a:t>
            </a: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en-US" sz="900">
                <a:solidFill>
                  <a:srgbClr val="4A5568"/>
                </a:solidFill>
                <a:latin typeface="微软雅黑"/>
                <a:ea typeface="微软雅黑"/>
                <a:sym typeface="+mn-ea"/>
              </a:rPr>
              <a:t>26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微软雅黑"/>
              </a:rPr>
              <a:t>5</a:t>
            </a:r>
            <a:endParaRPr lang="en-US"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2004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lang="en-US" altLang="zh-CN" sz="2600" b="1">
                <a:solidFill>
                  <a:srgbClr val="0F1B2D"/>
                </a:solidFill>
                <a:latin typeface="微软雅黑"/>
                <a:ea typeface="微软雅黑"/>
                <a:sym typeface="+mn-ea"/>
              </a:rPr>
              <a:t>AI</a:t>
            </a:r>
            <a:r>
              <a:rPr lang="zh-CN" altLang="en-US" sz="2600" b="1">
                <a:solidFill>
                  <a:srgbClr val="0F1B2D"/>
                </a:solidFill>
                <a:latin typeface="微软雅黑"/>
                <a:ea typeface="微软雅黑"/>
                <a:sym typeface="+mn-ea"/>
              </a:rPr>
              <a:t>工具使用声明</a:t>
            </a:r>
            <a:endParaRPr lang="zh-CN" altLang="en-US" sz="2600" b="1">
              <a:solidFill>
                <a:srgbClr val="0F1B2D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</a:pPr>
            <a:endParaRPr sz="26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</a:pPr>
            <a:r>
              <a:rPr lang="en-US" sz="900" b="0">
                <a:solidFill>
                  <a:srgbClr val="4A5568"/>
                </a:solidFill>
                <a:latin typeface="微软雅黑"/>
                <a:ea typeface="微软雅黑"/>
              </a:rPr>
              <a:t>19</a:t>
            </a: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en-US" sz="900">
                <a:solidFill>
                  <a:srgbClr val="4A5568"/>
                </a:solidFill>
                <a:latin typeface="微软雅黑"/>
                <a:ea typeface="微软雅黑"/>
                <a:sym typeface="+mn-ea"/>
              </a:rPr>
              <a:t>26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1214120"/>
            <a:ext cx="76320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根据赛事技术方案 1.1 节第 5 点要求，本队对 </a:t>
            </a:r>
            <a:r>
              <a:rPr lang="en-US" altLang="zh-CN" sz="1400"/>
              <a:t>AI </a:t>
            </a:r>
            <a:r>
              <a:rPr lang="zh-CN" altLang="en-US" sz="1400"/>
              <a:t>工具使用情况声明如下：</a:t>
            </a:r>
            <a:endParaRPr lang="zh-CN" altLang="en-US" sz="1400"/>
          </a:p>
        </p:txBody>
      </p:sp>
      <p:sp>
        <p:nvSpPr>
          <p:cNvPr id="8" name="文本框 7"/>
          <p:cNvSpPr txBox="1"/>
          <p:nvPr/>
        </p:nvSpPr>
        <p:spPr>
          <a:xfrm>
            <a:off x="548640" y="1579880"/>
            <a:ext cx="4064000" cy="352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700" b="1">
                <a:solidFill>
                  <a:srgbClr val="FF0000"/>
                </a:solidFill>
              </a:rPr>
              <a:t>▎使用的 </a:t>
            </a:r>
            <a:r>
              <a:rPr lang="en-US" altLang="zh-CN" sz="1700" b="1">
                <a:solidFill>
                  <a:srgbClr val="FF0000"/>
                </a:solidFill>
              </a:rPr>
              <a:t>AI </a:t>
            </a:r>
            <a:r>
              <a:rPr lang="zh-CN" altLang="en-US" sz="1700" b="1">
                <a:solidFill>
                  <a:srgbClr val="FF0000"/>
                </a:solidFill>
              </a:rPr>
              <a:t>工具清单</a:t>
            </a:r>
            <a:endParaRPr lang="zh-CN" altLang="en-US" sz="1700" b="1">
              <a:solidFill>
                <a:srgbClr val="FF0000"/>
              </a:solidFill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548640" y="2065020"/>
          <a:ext cx="11084560" cy="3420745"/>
        </p:xfrm>
        <a:graphic>
          <a:graphicData uri="http://schemas.openxmlformats.org/drawingml/2006/table">
            <a:tbl>
              <a:tblPr/>
              <a:tblGrid>
                <a:gridCol w="2771140"/>
                <a:gridCol w="2771140"/>
                <a:gridCol w="2771140"/>
                <a:gridCol w="2771140"/>
              </a:tblGrid>
              <a:tr h="285115"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 b="1">
                          <a:latin typeface="微软雅黑"/>
                          <a:ea typeface="微软雅黑"/>
                        </a:rPr>
                        <a:t>AI</a:t>
                      </a:r>
                      <a:r>
                        <a:rPr lang="zh-CN" altLang="en-US" sz="1000" b="1">
                          <a:latin typeface="微软雅黑"/>
                          <a:ea typeface="微软雅黑"/>
                        </a:rPr>
                        <a:t>工具</a:t>
                      </a:r>
                      <a:r>
                        <a:rPr lang="en-US" altLang="zh-CN" sz="1000" b="1">
                          <a:latin typeface="微软雅黑"/>
                          <a:ea typeface="微软雅黑"/>
                        </a:rPr>
                        <a:t>/</a:t>
                      </a:r>
                      <a:r>
                        <a:rPr lang="zh-CN" altLang="en-US" sz="1000" b="1">
                          <a:latin typeface="微软雅黑"/>
                          <a:ea typeface="微软雅黑"/>
                        </a:rPr>
                        <a:t>大模型</a:t>
                      </a:r>
                      <a:endParaRPr lang="zh-CN" altLang="en-US" sz="1000" b="1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 b="1">
                          <a:latin typeface="微软雅黑"/>
                          <a:ea typeface="微软雅黑"/>
                        </a:rPr>
                        <a:t>提供商</a:t>
                      </a:r>
                      <a:endParaRPr lang="zh-CN" sz="1000" b="1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 b="1">
                          <a:latin typeface="微软雅黑"/>
                          <a:ea typeface="微软雅黑"/>
                        </a:rPr>
                        <a:t>使用场景</a:t>
                      </a:r>
                      <a:endParaRPr lang="zh-CN" sz="1000" b="1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 b="1">
                          <a:latin typeface="微软雅黑"/>
                          <a:ea typeface="微软雅黑"/>
                        </a:rPr>
                        <a:t>使用阶段</a:t>
                      </a:r>
                      <a:endParaRPr lang="zh-CN" sz="1000" b="1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023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Claude Code (Anthropic Claude)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Anthropic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代码审查、架构设计建议、</a:t>
                      </a:r>
                      <a:br>
                        <a:rPr lang="zh-CN" altLang="en-US" sz="1000">
                          <a:latin typeface="微软雅黑"/>
                          <a:ea typeface="微软雅黑"/>
                        </a:rPr>
                      </a:b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Bug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定位辅助、文档生成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全阶段（设计与实现）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023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DeepSeek V3 / R1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DeepSeek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宕机日志语义分析、</a:t>
                      </a:r>
                      <a:br>
                        <a:rPr lang="zh-CN" altLang="en-US" sz="1000">
                          <a:latin typeface="微软雅黑"/>
                          <a:ea typeface="微软雅黑"/>
                        </a:rPr>
                      </a:br>
                      <a:r>
                        <a:rPr lang="zh-CN" sz="1000">
                          <a:latin typeface="微软雅黑"/>
                          <a:ea typeface="微软雅黑"/>
                        </a:rPr>
                        <a:t>根因推理、补丁推荐理由生成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在线分析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LLM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推理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023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Qwen 2.5:7B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阿里云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/ Ollama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本地部署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本地免费大模型推理、</a:t>
                      </a:r>
                      <a:br>
                        <a:rPr lang="zh-CN" altLang="en-US" sz="1000">
                          <a:latin typeface="微软雅黑"/>
                          <a:ea typeface="微软雅黑"/>
                        </a:rPr>
                      </a:b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LLM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分析降级方案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在线分析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LLM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推理（降级）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023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BGE-M3 (BAAI/bge-m3)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BAAI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Commit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文本向量编码、</a:t>
                      </a:r>
                      <a:br>
                        <a:rPr lang="zh-CN" altLang="en-US" sz="1000">
                          <a:latin typeface="微软雅黑"/>
                          <a:ea typeface="微软雅黑"/>
                        </a:rPr>
                      </a:br>
                      <a:r>
                        <a:rPr lang="zh-CN" sz="1000">
                          <a:latin typeface="微软雅黑"/>
                          <a:ea typeface="微软雅黑"/>
                        </a:rPr>
                        <a:t>检索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Query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向量化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离线索引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+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在线检索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511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BGE-Reranker-v2-m3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BAAI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向量检索结果语义重排序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在线检索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Rerank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阶段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511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GitHub Copilot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GitHub / Microsoft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代码补全辅助、注释生成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日常编码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448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Ollama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Ollama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社区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本地大模型部署与推理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LLM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推理服务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微软雅黑"/>
              </a:rPr>
              <a:t>5</a:t>
            </a:r>
            <a:endParaRPr lang="en-US"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2004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lang="en-US" altLang="zh-CN" sz="2600" b="1">
                <a:solidFill>
                  <a:srgbClr val="0F1B2D"/>
                </a:solidFill>
                <a:latin typeface="微软雅黑"/>
                <a:ea typeface="微软雅黑"/>
                <a:sym typeface="+mn-ea"/>
              </a:rPr>
              <a:t>AI</a:t>
            </a:r>
            <a:r>
              <a:rPr lang="zh-CN" altLang="en-US" sz="2600" b="1">
                <a:solidFill>
                  <a:srgbClr val="0F1B2D"/>
                </a:solidFill>
                <a:latin typeface="微软雅黑"/>
                <a:ea typeface="微软雅黑"/>
                <a:sym typeface="+mn-ea"/>
              </a:rPr>
              <a:t>工具使用声明</a:t>
            </a:r>
            <a:endParaRPr lang="zh-CN" altLang="en-US" sz="2600" b="1">
              <a:solidFill>
                <a:srgbClr val="0F1B2D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</a:pPr>
            <a:endParaRPr sz="26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</a:pPr>
            <a:r>
              <a:rPr lang="en-US" sz="900" b="0">
                <a:solidFill>
                  <a:srgbClr val="4A5568"/>
                </a:solidFill>
                <a:latin typeface="微软雅黑"/>
                <a:ea typeface="微软雅黑"/>
              </a:rPr>
              <a:t>20</a:t>
            </a: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en-US" sz="900">
                <a:solidFill>
                  <a:srgbClr val="4A5568"/>
                </a:solidFill>
                <a:latin typeface="微软雅黑"/>
                <a:ea typeface="微软雅黑"/>
                <a:sym typeface="+mn-ea"/>
              </a:rPr>
              <a:t>26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9275" y="1367790"/>
            <a:ext cx="11054715" cy="4711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00B050"/>
                </a:solidFill>
              </a:rPr>
              <a:t>▎AI </a:t>
            </a:r>
            <a:r>
              <a:rPr lang="zh-CN" altLang="en-US" b="1">
                <a:solidFill>
                  <a:srgbClr val="00B050"/>
                </a:solidFill>
              </a:rPr>
              <a:t>工具贡献说明</a:t>
            </a:r>
            <a:endParaRPr lang="zh-CN" altLang="en-US" b="1">
              <a:solidFill>
                <a:srgbClr val="00B050"/>
              </a:solidFill>
            </a:endParaRPr>
          </a:p>
          <a:p>
            <a:endParaRPr lang="zh-CN" altLang="en-US" sz="1700"/>
          </a:p>
          <a:p>
            <a:r>
              <a:rPr lang="en-US" altLang="zh-CN" sz="1700" b="1"/>
              <a:t>1. Claude Code（Anthropic Claude）</a:t>
            </a:r>
            <a:r>
              <a:rPr lang="zh-CN" altLang="en-US" sz="1700" b="1"/>
              <a:t>核心贡献：</a:t>
            </a:r>
            <a:endParaRPr lang="zh-CN" altLang="en-US" sz="1700" b="1"/>
          </a:p>
          <a:p>
            <a:r>
              <a:rPr lang="en-US" altLang="en-US" sz="1600"/>
              <a:t></a:t>
            </a:r>
            <a:r>
              <a:rPr lang="zh-CN" altLang="en-US" sz="1600"/>
              <a:t>架构设计阶段：参与离线/在线双阶段架构设计方案讨论与优化</a:t>
            </a:r>
            <a:endParaRPr lang="zh-CN" altLang="en-US" sz="1600"/>
          </a:p>
          <a:p>
            <a:r>
              <a:rPr lang="en-US" altLang="en-US" sz="1600"/>
              <a:t></a:t>
            </a:r>
            <a:r>
              <a:rPr lang="zh-CN" altLang="en-US" sz="1600"/>
              <a:t>代码开发阶段：辅助 </a:t>
            </a:r>
            <a:r>
              <a:rPr lang="en-US" altLang="zh-CN" sz="1600"/>
              <a:t>Python </a:t>
            </a:r>
            <a:r>
              <a:rPr lang="zh-CN" altLang="en-US" sz="1600"/>
              <a:t>代码生成、类型注解补全、错误处理完善</a:t>
            </a:r>
            <a:endParaRPr lang="zh-CN" altLang="en-US" sz="1600"/>
          </a:p>
          <a:p>
            <a:r>
              <a:rPr lang="en-US" altLang="en-US" sz="1600"/>
              <a:t></a:t>
            </a:r>
            <a:r>
              <a:rPr lang="en-US" altLang="zh-CN" sz="1600"/>
              <a:t>Bug </a:t>
            </a:r>
            <a:r>
              <a:rPr lang="zh-CN" altLang="en-US" sz="1600"/>
              <a:t>修复阶段：辅助分析 </a:t>
            </a:r>
            <a:r>
              <a:rPr lang="en-US" altLang="zh-CN" sz="1600"/>
              <a:t>FAISS </a:t>
            </a:r>
            <a:r>
              <a:rPr lang="zh-CN" altLang="en-US" sz="1600"/>
              <a:t>分数归一化链路问题、</a:t>
            </a:r>
            <a:r>
              <a:rPr lang="en-US" altLang="zh-CN" sz="1600"/>
              <a:t>rerank_candidates </a:t>
            </a:r>
            <a:r>
              <a:rPr lang="zh-CN" altLang="en-US" sz="1600"/>
              <a:t>变量名冲突等</a:t>
            </a:r>
            <a:endParaRPr lang="zh-CN" altLang="en-US" sz="1600"/>
          </a:p>
          <a:p>
            <a:r>
              <a:rPr lang="en-US" altLang="en-US" sz="1600"/>
              <a:t></a:t>
            </a:r>
            <a:r>
              <a:rPr lang="zh-CN" altLang="en-US" sz="1600"/>
              <a:t>文档生成阶段：辅助 </a:t>
            </a:r>
            <a:r>
              <a:rPr lang="en-US" altLang="zh-CN" sz="1600"/>
              <a:t>README、DEPLOY.md </a:t>
            </a:r>
            <a:r>
              <a:rPr lang="zh-CN" altLang="en-US" sz="1600"/>
              <a:t>等文档的框架生成与润色</a:t>
            </a:r>
            <a:endParaRPr lang="zh-CN" altLang="en-US" sz="1600"/>
          </a:p>
          <a:p>
            <a:r>
              <a:rPr lang="en-US" altLang="en-US" sz="1600"/>
              <a:t></a:t>
            </a:r>
            <a:r>
              <a:rPr lang="zh-CN" altLang="en-US" sz="1600"/>
              <a:t>前端开发阶段：辅助 </a:t>
            </a:r>
            <a:r>
              <a:rPr lang="en-US" altLang="zh-CN" sz="1600"/>
              <a:t>Vue3 </a:t>
            </a:r>
            <a:r>
              <a:rPr lang="zh-CN" altLang="en-US" sz="1600"/>
              <a:t>组件结构调整、暗色主题设计建议</a:t>
            </a:r>
            <a:endParaRPr lang="zh-CN" altLang="en-US" sz="1600"/>
          </a:p>
          <a:p>
            <a:endParaRPr lang="zh-CN" altLang="en-US" sz="1600"/>
          </a:p>
          <a:p>
            <a:r>
              <a:rPr lang="en-US" altLang="zh-CN" sz="1700" b="1"/>
              <a:t>2. DeepSeek / Qwen（LLM</a:t>
            </a:r>
            <a:r>
              <a:rPr lang="zh-CN" altLang="en-US" sz="1700" b="1"/>
              <a:t>推理引擎）核心贡献：</a:t>
            </a:r>
            <a:endParaRPr lang="zh-CN" altLang="en-US" sz="1700" b="1"/>
          </a:p>
          <a:p>
            <a:r>
              <a:rPr lang="en-US" altLang="en-US" sz="1600"/>
              <a:t></a:t>
            </a:r>
            <a:r>
              <a:rPr lang="zh-CN" altLang="en-US" sz="1600"/>
              <a:t>宕机日志深度语义分析：从 </a:t>
            </a:r>
            <a:r>
              <a:rPr lang="en-US" altLang="zh-CN" sz="1600"/>
              <a:t>dmesg/</a:t>
            </a:r>
            <a:r>
              <a:rPr lang="zh-CN" altLang="en-US" sz="1600"/>
              <a:t>问题描述中提取结构化 </a:t>
            </a:r>
            <a:r>
              <a:rPr lang="en-US" altLang="zh-CN" sz="1600"/>
              <a:t>CrashFeature</a:t>
            </a:r>
            <a:endParaRPr lang="en-US" altLang="zh-CN" sz="1600"/>
          </a:p>
          <a:p>
            <a:r>
              <a:rPr lang="en-US" altLang="en-US" sz="1600"/>
              <a:t></a:t>
            </a:r>
            <a:r>
              <a:rPr lang="zh-CN" altLang="en-US" sz="1600"/>
              <a:t>根因推理增强：与28条专家规则协同，生成根因假设与置信度评估</a:t>
            </a:r>
            <a:endParaRPr lang="zh-CN" altLang="en-US" sz="1600"/>
          </a:p>
          <a:p>
            <a:r>
              <a:rPr lang="en-US" altLang="en-US" sz="1600"/>
              <a:t></a:t>
            </a:r>
            <a:r>
              <a:rPr lang="zh-CN" altLang="en-US" sz="1600"/>
              <a:t>补丁推荐理由生成：为 </a:t>
            </a:r>
            <a:r>
              <a:rPr lang="en-US" altLang="zh-CN" sz="1600"/>
              <a:t>Top-N </a:t>
            </a:r>
            <a:r>
              <a:rPr lang="zh-CN" altLang="en-US" sz="1600"/>
              <a:t>补丁生成可解释的匹配理由</a:t>
            </a:r>
            <a:endParaRPr lang="zh-CN" altLang="en-US" sz="1600"/>
          </a:p>
          <a:p>
            <a:r>
              <a:rPr lang="en-US" altLang="en-US" sz="1600"/>
              <a:t></a:t>
            </a:r>
            <a:r>
              <a:rPr lang="zh-CN" altLang="en-US" sz="1600"/>
              <a:t>调用栈修复函数推断：识别调用栈中的关键函数与子系统归属</a:t>
            </a:r>
            <a:endParaRPr lang="zh-CN" altLang="en-US" sz="1600"/>
          </a:p>
          <a:p>
            <a:endParaRPr lang="zh-CN" altLang="en-US" sz="1600"/>
          </a:p>
          <a:p>
            <a:r>
              <a:rPr lang="en-US" altLang="zh-CN" sz="1700" b="1"/>
              <a:t>3. BGE-M3 / BGE-Reranker（Embedding </a:t>
            </a:r>
            <a:r>
              <a:rPr lang="zh-CN" altLang="en-US" sz="1700" b="1"/>
              <a:t>模型）核心贡献：</a:t>
            </a:r>
            <a:endParaRPr lang="zh-CN" altLang="en-US" sz="1700" b="1"/>
          </a:p>
          <a:p>
            <a:r>
              <a:rPr lang="en-US" altLang="en-US" sz="1600"/>
              <a:t></a:t>
            </a:r>
            <a:r>
              <a:rPr lang="zh-CN" altLang="en-US" sz="1600"/>
              <a:t>将 </a:t>
            </a:r>
            <a:r>
              <a:rPr lang="en-US" altLang="zh-CN" sz="1600"/>
              <a:t>Commit </a:t>
            </a:r>
            <a:r>
              <a:rPr lang="zh-CN" altLang="en-US" sz="1600"/>
              <a:t>修复根因文本与宕机根因文本编码至相同语义空间</a:t>
            </a:r>
            <a:endParaRPr lang="zh-CN" altLang="en-US" sz="1600"/>
          </a:p>
          <a:p>
            <a:r>
              <a:rPr lang="en-US" altLang="en-US" sz="1600"/>
              <a:t></a:t>
            </a:r>
            <a:r>
              <a:rPr lang="zh-CN" altLang="en-US" sz="1600"/>
              <a:t>对称 </a:t>
            </a:r>
            <a:r>
              <a:rPr lang="en-US" altLang="zh-CN" sz="1600"/>
              <a:t>embedding </a:t>
            </a:r>
            <a:r>
              <a:rPr lang="zh-CN" altLang="en-US" sz="1600"/>
              <a:t>方案的核心技术支撑，使相似度从 0.3 → 0.85</a:t>
            </a:r>
            <a:endParaRPr lang="zh-CN" altLang="en-US"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微软雅黑"/>
              </a:rPr>
              <a:t>5</a:t>
            </a:r>
            <a:endParaRPr lang="en-US"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2004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lang="en-US" altLang="zh-CN" sz="2600" b="1">
                <a:solidFill>
                  <a:srgbClr val="0F1B2D"/>
                </a:solidFill>
                <a:latin typeface="微软雅黑"/>
                <a:ea typeface="微软雅黑"/>
                <a:sym typeface="+mn-ea"/>
              </a:rPr>
              <a:t>AI</a:t>
            </a:r>
            <a:r>
              <a:rPr lang="zh-CN" altLang="en-US" sz="2600" b="1">
                <a:solidFill>
                  <a:srgbClr val="0F1B2D"/>
                </a:solidFill>
                <a:latin typeface="微软雅黑"/>
                <a:ea typeface="微软雅黑"/>
                <a:sym typeface="+mn-ea"/>
              </a:rPr>
              <a:t>工具使用声明</a:t>
            </a:r>
            <a:endParaRPr lang="zh-CN" altLang="en-US" sz="2600" b="1">
              <a:solidFill>
                <a:srgbClr val="0F1B2D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</a:pPr>
            <a:endParaRPr sz="26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</a:pPr>
            <a:r>
              <a:rPr lang="en-US" sz="900" b="0">
                <a:solidFill>
                  <a:srgbClr val="4A5568"/>
                </a:solidFill>
                <a:latin typeface="微软雅黑"/>
                <a:ea typeface="微软雅黑"/>
              </a:rPr>
              <a:t>21</a:t>
            </a: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en-US" sz="900">
                <a:solidFill>
                  <a:srgbClr val="4A5568"/>
                </a:solidFill>
                <a:latin typeface="微软雅黑"/>
                <a:ea typeface="微软雅黑"/>
                <a:sym typeface="+mn-ea"/>
              </a:rPr>
              <a:t>26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1381760"/>
            <a:ext cx="11064875" cy="3795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7030A0"/>
                </a:solidFill>
              </a:rPr>
              <a:t>▎AI </a:t>
            </a:r>
            <a:r>
              <a:rPr lang="zh-CN" altLang="en-US" b="1">
                <a:solidFill>
                  <a:srgbClr val="7030A0"/>
                </a:solidFill>
              </a:rPr>
              <a:t>交互记录</a:t>
            </a:r>
            <a:endParaRPr lang="zh-CN" altLang="en-US" b="1">
              <a:solidFill>
                <a:srgbClr val="7030A0"/>
              </a:solidFill>
            </a:endParaRPr>
          </a:p>
          <a:p>
            <a:endParaRPr lang="zh-CN" altLang="en-US"/>
          </a:p>
          <a:p>
            <a:r>
              <a:rPr lang="en-US" altLang="en-US"/>
              <a:t></a:t>
            </a:r>
            <a:r>
              <a:rPr lang="en-US" altLang="zh-CN"/>
              <a:t>AI </a:t>
            </a:r>
            <a:r>
              <a:rPr lang="zh-CN" altLang="en-US"/>
              <a:t>交互记录详见项目 </a:t>
            </a:r>
            <a:r>
              <a:rPr lang="en-US" altLang="zh-CN"/>
              <a:t>Git </a:t>
            </a:r>
            <a:r>
              <a:rPr lang="zh-CN" altLang="en-US"/>
              <a:t>提交历史中的详细 </a:t>
            </a:r>
            <a:r>
              <a:rPr lang="en-US" altLang="zh-CN"/>
              <a:t>commit message</a:t>
            </a:r>
            <a:endParaRPr lang="en-US" altLang="zh-CN"/>
          </a:p>
          <a:p>
            <a:r>
              <a:rPr lang="en-US" altLang="en-US"/>
              <a:t></a:t>
            </a:r>
            <a:r>
              <a:rPr lang="zh-CN" altLang="en-US"/>
              <a:t>每次使用 </a:t>
            </a:r>
            <a:r>
              <a:rPr lang="en-US" altLang="zh-CN"/>
              <a:t>Claude Code </a:t>
            </a:r>
            <a:r>
              <a:rPr lang="zh-CN" altLang="en-US"/>
              <a:t>进行重大修改均有对应 </a:t>
            </a:r>
            <a:r>
              <a:rPr lang="en-US" altLang="zh-CN"/>
              <a:t>commit </a:t>
            </a:r>
            <a:r>
              <a:rPr lang="zh-CN" altLang="en-US"/>
              <a:t>记录（如 </a:t>
            </a:r>
            <a:r>
              <a:rPr lang="en-US" altLang="zh-CN"/>
              <a:t>commit 9edf4f8, f4d30a4 </a:t>
            </a:r>
            <a:r>
              <a:rPr lang="zh-CN" altLang="en-US"/>
              <a:t>等）</a:t>
            </a:r>
            <a:endParaRPr lang="zh-CN" altLang="en-US"/>
          </a:p>
          <a:p>
            <a:r>
              <a:rPr lang="en-US" altLang="en-US"/>
              <a:t></a:t>
            </a:r>
            <a:r>
              <a:rPr lang="en-US" altLang="zh-CN"/>
              <a:t>LLM </a:t>
            </a:r>
            <a:r>
              <a:rPr lang="zh-CN" altLang="en-US"/>
              <a:t>推理输出已通过防幻觉约束机制进行过滤，确保推荐结果的可信度</a:t>
            </a:r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微软雅黑"/>
              </a:rPr>
              <a:t>6</a:t>
            </a:r>
            <a:endParaRPr lang="en-US"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2004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lang="zh-CN" altLang="en-US" sz="2600" b="1">
                <a:solidFill>
                  <a:srgbClr val="0F1B2D"/>
                </a:solidFill>
                <a:latin typeface="微软雅黑"/>
                <a:ea typeface="微软雅黑"/>
              </a:rPr>
              <a:t>测试与验证情况</a:t>
            </a:r>
            <a:endParaRPr lang="zh-CN" altLang="en-US" sz="26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</a:pPr>
            <a:r>
              <a:rPr lang="en-US" sz="900" b="0">
                <a:solidFill>
                  <a:srgbClr val="4A5568"/>
                </a:solidFill>
                <a:latin typeface="微软雅黑"/>
                <a:ea typeface="微软雅黑"/>
              </a:rPr>
              <a:t>22</a:t>
            </a: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en-US" sz="900">
                <a:solidFill>
                  <a:srgbClr val="4A5568"/>
                </a:solidFill>
                <a:latin typeface="微软雅黑"/>
                <a:ea typeface="微软雅黑"/>
                <a:sym typeface="+mn-ea"/>
              </a:rPr>
              <a:t>26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548640" y="1213485"/>
          <a:ext cx="11082020" cy="2499360"/>
        </p:xfrm>
        <a:graphic>
          <a:graphicData uri="http://schemas.openxmlformats.org/drawingml/2006/table">
            <a:tbl>
              <a:tblPr/>
              <a:tblGrid>
                <a:gridCol w="2770505"/>
                <a:gridCol w="2770505"/>
                <a:gridCol w="2770505"/>
                <a:gridCol w="2770505"/>
              </a:tblGrid>
              <a:tr h="312420"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 b="1">
                          <a:latin typeface="微软雅黑"/>
                          <a:ea typeface="微软雅黑"/>
                        </a:rPr>
                        <a:t>测试类型</a:t>
                      </a:r>
                      <a:endParaRPr lang="zh-CN" sz="1000" b="1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 b="1">
                          <a:latin typeface="微软雅黑"/>
                          <a:ea typeface="微软雅黑"/>
                        </a:rPr>
                        <a:t>测试文件</a:t>
                      </a:r>
                      <a:endParaRPr lang="zh-CN" sz="1000" b="1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 b="1">
                          <a:latin typeface="微软雅黑"/>
                          <a:ea typeface="微软雅黑"/>
                        </a:rPr>
                        <a:t>覆盖范围</a:t>
                      </a:r>
                      <a:endParaRPr lang="zh-CN" sz="1000" b="1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 b="1">
                          <a:latin typeface="微软雅黑"/>
                          <a:ea typeface="微软雅黑"/>
                        </a:rPr>
                        <a:t>状态</a:t>
                      </a:r>
                      <a:endParaRPr lang="zh-CN" sz="1000" b="1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242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集成测试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tests/test_integration.py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端到端分析流水线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通过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242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分析器单元测试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tests/test_analyzer.py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dmesg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解析 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/ CrashFeature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提取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通过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05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采集器单元测试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tests/test_collector.py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Git commit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采集 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/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结构化提取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通过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178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索引器单元测试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tests/test_indexer.py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Embedding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编码 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/ Milvus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存储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通过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242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检索器单元测试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tests/test_retriever.py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四阶段检索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/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评分拆解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通过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484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规则引擎测试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tests/test_commit_rules.py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25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条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DIFF_RULES / 28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条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EXPERT_RULES</a:t>
                      </a:r>
                      <a:endParaRPr lang="en-US" alt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✅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通过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542925" y="4204970"/>
            <a:ext cx="11088370" cy="1965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 b="1"/>
              <a:t>▎测试数据集</a:t>
            </a:r>
            <a:endParaRPr lang="zh-CN" altLang="en-US" sz="1600" b="1"/>
          </a:p>
          <a:p>
            <a:endParaRPr lang="zh-CN" altLang="en-US" b="1"/>
          </a:p>
          <a:p>
            <a:r>
              <a:rPr lang="en-US" altLang="en-US" sz="1400"/>
              <a:t>(1)9</a:t>
            </a:r>
            <a:r>
              <a:rPr lang="zh-CN" altLang="en-US" sz="1400"/>
              <a:t>种宕机日志样本（</a:t>
            </a:r>
            <a:r>
              <a:rPr lang="en-US" altLang="zh-CN" sz="1400"/>
              <a:t>tests/fixtures/）：dmesg_null_pointer, dmesg_uaf, dmesg_deadlock, dmesg_oom, dmesg_bug, dmesg_hardlockup, dmesg_softlockup, dmesg_list_corruption, dmesg_page_fault</a:t>
            </a:r>
            <a:endParaRPr lang="en-US" altLang="zh-CN" sz="1400"/>
          </a:p>
          <a:p>
            <a:r>
              <a:rPr lang="en-US" altLang="en-US" sz="1400"/>
              <a:t>(2)</a:t>
            </a:r>
            <a:r>
              <a:rPr lang="zh-CN" altLang="en-US" sz="1400"/>
              <a:t>覆盖 5 种典型宕机类型：</a:t>
            </a:r>
            <a:r>
              <a:rPr lang="en-US" altLang="zh-CN" sz="1400"/>
              <a:t>NULL pointer / UAF / deadlock / OOM / lockup</a:t>
            </a:r>
            <a:endParaRPr lang="en-US" altLang="zh-CN" sz="1400"/>
          </a:p>
          <a:p>
            <a:r>
              <a:rPr lang="en-US" altLang="en-US" sz="1400"/>
              <a:t>(3)</a:t>
            </a:r>
            <a:r>
              <a:rPr lang="zh-CN" altLang="en-US" sz="1400"/>
              <a:t>全量数据模式：312,632条 </a:t>
            </a:r>
            <a:r>
              <a:rPr lang="en-US" altLang="zh-CN" sz="1400"/>
              <a:t>Linux Kernel commit（4.9 ~ 6.13）</a:t>
            </a:r>
            <a:endParaRPr lang="en-US" altLang="zh-CN" sz="1400"/>
          </a:p>
          <a:p>
            <a:r>
              <a:rPr lang="en-US" altLang="en-US" sz="1400"/>
              <a:t>(4)</a:t>
            </a:r>
            <a:r>
              <a:rPr lang="en-US" altLang="zh-CN" sz="1400"/>
              <a:t>Demo</a:t>
            </a:r>
            <a:r>
              <a:rPr lang="zh-CN" altLang="en-US" sz="1400"/>
              <a:t>数据模式：9,990条，用于快速验证</a:t>
            </a:r>
            <a:endParaRPr lang="zh-CN" altLang="en-US"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7</a:t>
            </a:r>
            <a:endParaRPr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2004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1B2D"/>
                </a:solidFill>
                <a:latin typeface="微软雅黑"/>
                <a:ea typeface="微软雅黑"/>
              </a:rPr>
              <a:t>方案总结与产业应用价值</a:t>
            </a:r>
            <a:endParaRPr sz="26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34440" y="77724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A5568"/>
                </a:solidFill>
                <a:latin typeface="Arial" panose="020B0604020202020204"/>
                <a:ea typeface="Arial" panose="020B0604020202020204"/>
              </a:rPr>
              <a:t>Solution Summary &amp; Industrial Application Value</a:t>
            </a:r>
            <a:endParaRPr sz="1200" b="0">
              <a:solidFill>
                <a:srgbClr val="4A5568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30352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1B2D"/>
                </a:solidFill>
                <a:latin typeface="微软雅黑"/>
                <a:ea typeface="微软雅黑"/>
              </a:rPr>
              <a:t>▎方案总结</a:t>
            </a:r>
            <a:endParaRPr sz="16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493776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A202C"/>
                </a:solidFill>
                <a:latin typeface="微软雅黑"/>
                <a:ea typeface="微软雅黑"/>
              </a:rPr>
              <a:t>核心解决：
  Linux内核宕机补丁匹配的 「效率低、精度差、依赖专家」三大问题
技术路径：
  RAG + 内核领域知识 + LLM 深度结合
  离线+在线双阶段架构，对称嵌入+四阶段检索
核心优势：
  ✅ 高精度：Top-5 命中精度 80%+，语义相似度提升 2.8x
  ✅ 高效率：秒级端到端响应（&lt;3s），全自动无需人工
  ✅ 可解释：LLM 生成推荐理由 + 因果推理链
  ✅ 可扩展：适配多版本内核（4.9~6.13），支持新增Bug类型
  ✅ 低成本：支持Ollama本地免费模型，Docker一键部署
关键创新：
  ⭐ 对称 Root Cause Embedding（核心突破）
  ⭐ 四阶段级联检索架构
  ⭐ 28条专家规则 + 10种Bug模式知识图谱</a:t>
            </a:r>
            <a:endParaRPr sz="1050" b="0">
              <a:solidFill>
                <a:srgbClr val="1A202C"/>
              </a:solidFill>
              <a:latin typeface="微软雅黑"/>
              <a:ea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48640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1B2D"/>
                </a:solidFill>
                <a:latin typeface="微软雅黑"/>
                <a:ea typeface="微软雅黑"/>
              </a:rPr>
              <a:t>▎应用价值与前景</a:t>
            </a:r>
            <a:endParaRPr sz="16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0" y="2011680"/>
            <a:ext cx="5120640" cy="82296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19088" y="2057400"/>
            <a:ext cx="45720" cy="7315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0574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E8B57"/>
                </a:solidFill>
                <a:latin typeface="微软雅黑"/>
                <a:ea typeface="微软雅黑"/>
              </a:rPr>
              <a:t>🚀 运维提效</a:t>
            </a:r>
            <a:endParaRPr sz="1200" b="1">
              <a:solidFill>
                <a:srgbClr val="2E8B57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80" y="228600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A5568"/>
                </a:solidFill>
                <a:latin typeface="微软雅黑"/>
                <a:ea typeface="微软雅黑"/>
              </a:rPr>
              <a:t>故障分析从 小时级→分钟级
降低对资深内核专家的依赖
自动化诊断，7×24可用</a:t>
            </a:r>
            <a:endParaRPr sz="95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00800" y="2971800"/>
            <a:ext cx="5120640" cy="82296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19088" y="3017520"/>
            <a:ext cx="45720" cy="73152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0175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8792B"/>
                </a:solidFill>
                <a:latin typeface="微软雅黑"/>
                <a:ea typeface="微软雅黑"/>
              </a:rPr>
              <a:t>💰 成本节约</a:t>
            </a:r>
            <a:endParaRPr sz="1200" b="1">
              <a:solidFill>
                <a:srgbClr val="E8792B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83680" y="324612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A5568"/>
                </a:solidFill>
                <a:latin typeface="微软雅黑"/>
                <a:ea typeface="微软雅黑"/>
              </a:rPr>
              <a:t>减少数据中心宕机带来的
业务中断损失（MTTR↓）
降低运维人力成本</a:t>
            </a:r>
            <a:endParaRPr sz="95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00800" y="3931920"/>
            <a:ext cx="5120640" cy="82296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19088" y="3977640"/>
            <a:ext cx="4572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97764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3A5F"/>
                </a:solidFill>
                <a:latin typeface="微软雅黑"/>
                <a:ea typeface="微软雅黑"/>
              </a:rPr>
              <a:t>🔧 可扩展性</a:t>
            </a:r>
            <a:endParaRPr sz="1200" b="1">
              <a:solidFill>
                <a:srgbClr val="1E3A5F"/>
              </a:solidFill>
              <a:latin typeface="微软雅黑"/>
              <a:ea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83680" y="420624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A5568"/>
                </a:solidFill>
                <a:latin typeface="微软雅黑"/>
                <a:ea typeface="微软雅黑"/>
              </a:rPr>
              <a:t>适配Linux 4.9~6.13全版本
支持新增子系统/Bug类型
知识库持续进化</a:t>
            </a:r>
            <a:endParaRPr sz="95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00800" y="4892040"/>
            <a:ext cx="5120640" cy="82296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19088" y="4937760"/>
            <a:ext cx="4572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93776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3A5F"/>
                </a:solidFill>
                <a:latin typeface="微软雅黑"/>
                <a:ea typeface="微软雅黑"/>
              </a:rPr>
              <a:t>🏭 产业应用</a:t>
            </a:r>
            <a:endParaRPr sz="1200" b="1">
              <a:solidFill>
                <a:srgbClr val="1E3A5F"/>
              </a:solidFill>
              <a:latin typeface="微软雅黑"/>
              <a:ea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83680" y="516636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A5568"/>
                </a:solidFill>
                <a:latin typeface="微软雅黑"/>
                <a:ea typeface="微软雅黑"/>
              </a:rPr>
              <a:t>云计算/数据中心内核运维
边缘计算节点自动诊断
Linux发行版Bug分类</a:t>
            </a:r>
            <a:endParaRPr sz="95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57200" y="6035040"/>
            <a:ext cx="11247120" cy="548640"/>
          </a:xfrm>
          <a:prstGeom prst="round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🎯 技术赋能内核运维智能化 — 从「人工经验驱动」到「数据+AI驱动」的范式升级</a:t>
            </a:r>
            <a:endParaRPr sz="14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</a:pPr>
            <a:r>
              <a:rPr lang="en-US" sz="900" b="0">
                <a:solidFill>
                  <a:srgbClr val="4A5568"/>
                </a:solidFill>
                <a:latin typeface="微软雅黑"/>
                <a:ea typeface="微软雅黑"/>
              </a:rPr>
              <a:t>23</a:t>
            </a: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en-US" sz="900">
                <a:solidFill>
                  <a:srgbClr val="4A5568"/>
                </a:solidFill>
                <a:latin typeface="微软雅黑"/>
                <a:ea typeface="微软雅黑"/>
                <a:sym typeface="+mn-ea"/>
              </a:rPr>
              <a:t>26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微软雅黑"/>
              </a:rPr>
              <a:t>7</a:t>
            </a:r>
            <a:endParaRPr lang="en-US" sz="1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2004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lang="zh-CN" altLang="en-US" sz="2600" b="1">
                <a:solidFill>
                  <a:srgbClr val="0F1B2D"/>
                </a:solidFill>
                <a:latin typeface="微软雅黑"/>
                <a:ea typeface="微软雅黑"/>
              </a:rPr>
              <a:t>后续工作规划</a:t>
            </a:r>
            <a:endParaRPr lang="zh-CN" altLang="en-US" sz="26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</a:pPr>
            <a:r>
              <a:rPr lang="en-US" sz="900" b="0">
                <a:solidFill>
                  <a:srgbClr val="4A5568"/>
                </a:solidFill>
                <a:latin typeface="微软雅黑"/>
                <a:ea typeface="微软雅黑"/>
              </a:rPr>
              <a:t>24</a:t>
            </a: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 / </a:t>
            </a:r>
            <a:r>
              <a:rPr lang="en-US" sz="900">
                <a:solidFill>
                  <a:srgbClr val="4A5568"/>
                </a:solidFill>
                <a:latin typeface="微软雅黑"/>
                <a:ea typeface="微软雅黑"/>
                <a:sym typeface="+mn-ea"/>
              </a:rPr>
              <a:t>26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1226820"/>
            <a:ext cx="2657475" cy="350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00B0F0"/>
                </a:solidFill>
              </a:rPr>
              <a:t>▎短期目标（决赛阶段）</a:t>
            </a:r>
            <a:endParaRPr lang="zh-CN" altLang="en-US">
              <a:solidFill>
                <a:srgbClr val="00B0F0"/>
              </a:solidFill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560705" y="1664335"/>
          <a:ext cx="11054080" cy="3442335"/>
        </p:xfrm>
        <a:graphic>
          <a:graphicData uri="http://schemas.openxmlformats.org/drawingml/2006/table">
            <a:tbl>
              <a:tblPr/>
              <a:tblGrid>
                <a:gridCol w="2763520"/>
                <a:gridCol w="2763520"/>
                <a:gridCol w="2763520"/>
                <a:gridCol w="2763520"/>
              </a:tblGrid>
              <a:tr h="203200"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 b="1">
                          <a:latin typeface="微软雅黑"/>
                          <a:ea typeface="微软雅黑"/>
                        </a:rPr>
                        <a:t>工作项</a:t>
                      </a:r>
                      <a:endParaRPr lang="zh-CN" sz="1000" b="1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 b="1">
                          <a:latin typeface="微软雅黑"/>
                          <a:ea typeface="微软雅黑"/>
                        </a:rPr>
                        <a:t>具体内容</a:t>
                      </a:r>
                      <a:endParaRPr lang="zh-CN" sz="1000" b="1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 b="1">
                          <a:latin typeface="微软雅黑"/>
                          <a:ea typeface="微软雅黑"/>
                        </a:rPr>
                        <a:t>优先级</a:t>
                      </a:r>
                      <a:endParaRPr lang="zh-CN" sz="1000" b="1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 b="1">
                          <a:latin typeface="微软雅黑"/>
                          <a:ea typeface="微软雅黑"/>
                        </a:rPr>
                        <a:t>预期时间</a:t>
                      </a:r>
                      <a:endParaRPr lang="zh-CN" sz="1000" b="1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449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Top-3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命中率评测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基于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Fixes: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标签的 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ground truth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自动化评测体系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🔴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000">
                          <a:latin typeface="微软雅黑"/>
                          <a:ea typeface="微软雅黑"/>
                        </a:rPr>
                        <a:t>高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7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月上旬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13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检索精度优化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调优对称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embedding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权重配比 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+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规则引擎参数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🔴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000">
                          <a:latin typeface="微软雅黑"/>
                          <a:ea typeface="微软雅黑"/>
                        </a:rPr>
                        <a:t>高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7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月上旬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13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多模态深度集成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vmcore drgn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解析完整流水线，寄存器状态到根因的端到端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🟡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000">
                          <a:latin typeface="微软雅黑"/>
                          <a:ea typeface="微软雅黑"/>
                        </a:rPr>
                        <a:t>中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7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月中旬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449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演示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Demo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制作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拍摄完整操作演示视频，展示典型宕机诊断流程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🔴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000">
                          <a:latin typeface="微软雅黑"/>
                          <a:ea typeface="微软雅黑"/>
                        </a:rPr>
                        <a:t>高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7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月中旬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13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消融实验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系统性地对比各组件（对称嵌入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/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规则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/LLM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）对命中率的贡献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🟡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000">
                          <a:latin typeface="微软雅黑"/>
                          <a:ea typeface="微软雅黑"/>
                        </a:rPr>
                        <a:t>中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7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月下旬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449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跨版本验证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验证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4.9 / 5.x / 6.x 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三个主要版本线的补丁推荐精度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🟡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000">
                          <a:latin typeface="微软雅黑"/>
                          <a:ea typeface="微软雅黑"/>
                        </a:rPr>
                        <a:t>中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7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月下旬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76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设计文档完善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补充方案设计文档、算法原理说明、技术架构图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🔴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000">
                          <a:latin typeface="微软雅黑"/>
                          <a:ea typeface="微软雅黑"/>
                        </a:rPr>
                        <a:t>高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7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月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449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性能压测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大规模并发场景下的延迟与吞吐量测试（</a:t>
                      </a: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50+ QPS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）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zh-CN" sz="1000">
                          <a:latin typeface="微软雅黑"/>
                          <a:ea typeface="微软雅黑"/>
                        </a:rPr>
                        <a:t>🟢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sz="1000">
                          <a:latin typeface="微软雅黑"/>
                          <a:ea typeface="微软雅黑"/>
                        </a:rPr>
                        <a:t>低</a:t>
                      </a:r>
                      <a:endParaRPr lang="zh-CN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000">
                          <a:latin typeface="微软雅黑"/>
                          <a:ea typeface="微软雅黑"/>
                        </a:rPr>
                        <a:t>8</a:t>
                      </a:r>
                      <a:r>
                        <a:rPr lang="zh-CN" altLang="en-US" sz="1000">
                          <a:latin typeface="微软雅黑"/>
                          <a:ea typeface="微软雅黑"/>
                        </a:rPr>
                        <a:t>月</a:t>
                      </a:r>
                      <a:endParaRPr lang="zh-CN" altLang="en-US" sz="1000">
                        <a:latin typeface="微软雅黑"/>
                        <a:ea typeface="微软雅黑"/>
                      </a:endParaRPr>
                    </a:p>
                  </a:txBody>
                  <a:tcPr marL="68580" marR="68580" marT="0" marB="0" anchor="t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560705" y="5283835"/>
            <a:ext cx="11047095" cy="1551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solidFill>
                  <a:srgbClr val="00B050"/>
                </a:solidFill>
              </a:rPr>
              <a:t>▎长期展望</a:t>
            </a:r>
            <a:endParaRPr lang="zh-CN" altLang="en-US" sz="1400">
              <a:solidFill>
                <a:srgbClr val="00B050"/>
              </a:solidFill>
            </a:endParaRPr>
          </a:p>
          <a:p>
            <a:r>
              <a:rPr lang="en-US" altLang="en-US" sz="1400"/>
              <a:t></a:t>
            </a:r>
            <a:r>
              <a:rPr lang="zh-CN" altLang="en-US" sz="1400"/>
              <a:t>功能扩展：支持更多宕机类型（</a:t>
            </a:r>
            <a:r>
              <a:rPr lang="en-US" altLang="zh-CN" sz="1400"/>
              <a:t>softlockup、page_fault、general_protection_fault </a:t>
            </a:r>
            <a:r>
              <a:rPr lang="zh-CN" altLang="en-US" sz="1400"/>
              <a:t>等）</a:t>
            </a:r>
            <a:endParaRPr lang="zh-CN" altLang="en-US" sz="1400"/>
          </a:p>
          <a:p>
            <a:r>
              <a:rPr lang="en-US" altLang="en-US" sz="1400"/>
              <a:t></a:t>
            </a:r>
            <a:r>
              <a:rPr lang="zh-CN" altLang="en-US" sz="1400"/>
              <a:t>知识库进化：持续更新内核 </a:t>
            </a:r>
            <a:r>
              <a:rPr lang="en-US" altLang="zh-CN" sz="1400"/>
              <a:t>commit </a:t>
            </a:r>
            <a:r>
              <a:rPr lang="zh-CN" altLang="en-US" sz="1400"/>
              <a:t>数据库，跟踪最新 </a:t>
            </a:r>
            <a:r>
              <a:rPr lang="en-US" altLang="zh-CN" sz="1400"/>
              <a:t>upstream </a:t>
            </a:r>
            <a:r>
              <a:rPr lang="zh-CN" altLang="en-US" sz="1400"/>
              <a:t>修复</a:t>
            </a:r>
            <a:endParaRPr lang="zh-CN" altLang="en-US" sz="1400"/>
          </a:p>
          <a:p>
            <a:r>
              <a:rPr lang="en-US" altLang="en-US" sz="1400"/>
              <a:t></a:t>
            </a:r>
            <a:r>
              <a:rPr lang="zh-CN" altLang="en-US" sz="1400"/>
              <a:t>产业对接：与龙蜥社区 </a:t>
            </a:r>
            <a:r>
              <a:rPr lang="en-US" altLang="zh-CN" sz="1400"/>
              <a:t>ANCK </a:t>
            </a:r>
            <a:r>
              <a:rPr lang="zh-CN" altLang="en-US" sz="1400"/>
              <a:t>内核维护流程对接，实际应用于内核宕机回溯</a:t>
            </a:r>
            <a:endParaRPr lang="zh-CN" altLang="en-US" sz="1400"/>
          </a:p>
          <a:p>
            <a:r>
              <a:rPr lang="en-US" altLang="en-US" sz="1400"/>
              <a:t></a:t>
            </a:r>
            <a:r>
              <a:rPr lang="zh-CN" altLang="en-US" sz="1400"/>
              <a:t>社区开放：在 </a:t>
            </a:r>
            <a:r>
              <a:rPr lang="en-US" altLang="zh-CN" sz="1400"/>
              <a:t>GitHub </a:t>
            </a:r>
            <a:r>
              <a:rPr lang="zh-CN" altLang="en-US" sz="1400"/>
              <a:t>开源，欢迎社区贡献新的宕机模式和专家规则</a:t>
            </a:r>
            <a:endParaRPr lang="zh-CN" altLang="en-US" sz="1400"/>
          </a:p>
          <a:p>
            <a:r>
              <a:rPr lang="en-US" altLang="en-US" sz="1400"/>
              <a:t></a:t>
            </a:r>
            <a:r>
              <a:rPr lang="en-US" altLang="zh-CN" sz="1400"/>
              <a:t>AI </a:t>
            </a:r>
            <a:r>
              <a:rPr lang="zh-CN" altLang="en-US" sz="1400"/>
              <a:t>增强：探索 </a:t>
            </a:r>
            <a:r>
              <a:rPr lang="en-US" altLang="zh-CN" sz="1400"/>
              <a:t>Fine-tuned </a:t>
            </a:r>
            <a:r>
              <a:rPr lang="zh-CN" altLang="en-US" sz="1400"/>
              <a:t>内核领域专用 </a:t>
            </a:r>
            <a:r>
              <a:rPr lang="en-US" altLang="zh-CN" sz="1400"/>
              <a:t>Embedding </a:t>
            </a:r>
            <a:r>
              <a:rPr lang="zh-CN" altLang="en-US" sz="1400"/>
              <a:t>模型，替代通用 </a:t>
            </a:r>
            <a:r>
              <a:rPr lang="en-US" altLang="zh-CN" sz="1400"/>
              <a:t>BGE-M3</a:t>
            </a:r>
            <a:endParaRPr lang="en-US" altLang="zh-CN" sz="1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5465" y="320040"/>
            <a:ext cx="9832975" cy="6426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lang="zh-CN" altLang="en-US" sz="2600" b="1">
                <a:solidFill>
                  <a:srgbClr val="0F1B2D"/>
                </a:solidFill>
                <a:latin typeface="微软雅黑"/>
                <a:ea typeface="微软雅黑"/>
              </a:rPr>
              <a:t>总结</a:t>
            </a:r>
            <a:endParaRPr lang="zh-CN" altLang="en-US" sz="2600" b="1">
              <a:solidFill>
                <a:srgbClr val="0F1B2D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254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</a:pPr>
            <a:r>
              <a:rPr lang="en-US" sz="900" b="0">
                <a:solidFill>
                  <a:srgbClr val="4A5568"/>
                </a:solidFill>
                <a:latin typeface="微软雅黑"/>
                <a:ea typeface="微软雅黑"/>
              </a:rPr>
              <a:t>25 </a:t>
            </a: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/ </a:t>
            </a:r>
            <a:r>
              <a:rPr lang="en-US" sz="900">
                <a:solidFill>
                  <a:srgbClr val="4A5568"/>
                </a:solidFill>
                <a:latin typeface="微软雅黑"/>
                <a:ea typeface="微软雅黑"/>
                <a:sym typeface="+mn-ea"/>
              </a:rPr>
              <a:t>26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640" y="1381760"/>
            <a:ext cx="11064875" cy="3795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 已完成完整的功能链路：宕机日志输入 → 特征提取 → 根因分析 → 四阶段检索 → 补丁推荐 → 可解释报告</a:t>
            </a:r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 核心创新「对称 </a:t>
            </a:r>
            <a:r>
              <a:rPr lang="en-US" altLang="zh-CN"/>
              <a:t>Root Cause Embedding」</a:t>
            </a:r>
            <a:r>
              <a:rPr lang="zh-CN" altLang="en-US"/>
              <a:t>有效解决语义鸿沟问题，相似度从 0.3 提升至 0.85</a:t>
            </a:r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 支持 </a:t>
            </a:r>
            <a:r>
              <a:rPr lang="en-US" altLang="zh-CN"/>
              <a:t>dmesg/vmcore/</a:t>
            </a:r>
            <a:r>
              <a:rPr lang="zh-CN" altLang="en-US"/>
              <a:t>问题描述 三种输入模态，覆盖 9 种宕机日志类型</a:t>
            </a:r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</a:t>
            </a:r>
            <a:r>
              <a:rPr lang="en-US" altLang="zh-CN"/>
              <a:t> Docker </a:t>
            </a:r>
            <a:r>
              <a:rPr lang="zh-CN" altLang="en-US"/>
              <a:t>一键部署，支持免费 </a:t>
            </a:r>
            <a:r>
              <a:rPr lang="en-US" altLang="zh-CN"/>
              <a:t>Ollama </a:t>
            </a:r>
            <a:r>
              <a:rPr lang="zh-CN" altLang="en-US"/>
              <a:t>本地模型，零成本可用</a:t>
            </a:r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5</a:t>
            </a:r>
            <a:r>
              <a:rPr lang="zh-CN" altLang="en-US"/>
              <a:t>） 初赛阶段提交 40+ 次，提交间隔合理，记录完整</a:t>
            </a:r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6</a:t>
            </a:r>
            <a:r>
              <a:rPr lang="zh-CN" altLang="en-US"/>
              <a:t>） 代码遵循 </a:t>
            </a:r>
            <a:r>
              <a:rPr lang="en-US" altLang="zh-CN"/>
              <a:t>MIT </a:t>
            </a:r>
            <a:r>
              <a:rPr lang="zh-CN" altLang="en-US"/>
              <a:t>开源协议，文档遵循 </a:t>
            </a:r>
            <a:r>
              <a:rPr lang="en-US" altLang="zh-CN"/>
              <a:t>CC-BY-SA 4.0</a:t>
            </a:r>
            <a:endParaRPr lang="en-US" altLang="zh-CN"/>
          </a:p>
          <a:p>
            <a:r>
              <a:rPr lang="zh-CN" altLang="en-US"/>
              <a:t>（</a:t>
            </a:r>
            <a:r>
              <a:rPr lang="en-US" altLang="zh-CN"/>
              <a:t>7</a:t>
            </a:r>
            <a:r>
              <a:rPr lang="zh-CN" altLang="en-US"/>
              <a:t>）</a:t>
            </a:r>
            <a:r>
              <a:rPr lang="en-US" altLang="zh-CN"/>
              <a:t> AI </a:t>
            </a:r>
            <a:r>
              <a:rPr lang="zh-CN" altLang="en-US"/>
              <a:t>工具使用已按要求在 </a:t>
            </a:r>
            <a:r>
              <a:rPr lang="en-US" altLang="zh-CN"/>
              <a:t>Git commit、</a:t>
            </a:r>
            <a:r>
              <a:rPr lang="zh-CN" altLang="en-US"/>
              <a:t>本文档及设计文档中完整披露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44440" y="958215"/>
            <a:ext cx="21031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6000" b="0">
                <a:solidFill>
                  <a:srgbClr val="FFFFFF"/>
                </a:solidFill>
                <a:latin typeface="微软雅黑"/>
                <a:ea typeface="微软雅黑"/>
              </a:rPr>
              <a:t>🐧</a:t>
            </a:r>
            <a:endParaRPr sz="6000" b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0" y="4206240"/>
            <a:ext cx="8503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A0AEC0"/>
                </a:solidFill>
                <a:latin typeface="微软雅黑"/>
                <a:ea typeface="微软雅黑"/>
              </a:rPr>
              <a:t>Linux 内核宕机自动诊断与补丁匹配系统</a:t>
            </a:r>
            <a:endParaRPr sz="1800" b="0">
              <a:solidFill>
                <a:srgbClr val="A0AEC0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43200" y="5303520"/>
            <a:ext cx="6675120" cy="576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chemeClr val="accent6">
                    <a:lumMod val="60000"/>
                    <a:lumOff val="40000"/>
                  </a:schemeClr>
                </a:solidFill>
                <a:latin typeface="微软雅黑"/>
                <a:ea typeface="微软雅黑"/>
                <a:sym typeface="+mn-ea"/>
              </a:rPr>
              <a:t>项目团队：</a:t>
            </a:r>
            <a:r>
              <a:rPr lang="en-US" altLang="zh-CN" sz="1200" b="1">
                <a:solidFill>
                  <a:schemeClr val="accent6">
                    <a:lumMod val="60000"/>
                    <a:lumOff val="40000"/>
                  </a:schemeClr>
                </a:solidFill>
                <a:latin typeface="微软雅黑"/>
                <a:ea typeface="微软雅黑"/>
                <a:sym typeface="+mn-ea"/>
              </a:rPr>
              <a:t>ss_-tpnl</a:t>
            </a:r>
            <a:r>
              <a:rPr lang="en-US" altLang="zh-CN" sz="1200" b="1">
                <a:solidFill>
                  <a:schemeClr val="accent6">
                    <a:lumMod val="60000"/>
                    <a:lumOff val="40000"/>
                  </a:schemeClr>
                </a:solidFill>
                <a:latin typeface="微软雅黑"/>
                <a:ea typeface="微软雅黑"/>
                <a:sym typeface="+mn-ea"/>
              </a:rPr>
              <a:t>  </a:t>
            </a:r>
            <a:r>
              <a:rPr sz="1200" b="1">
                <a:solidFill>
                  <a:schemeClr val="accent6">
                    <a:lumMod val="60000"/>
                    <a:lumOff val="40000"/>
                  </a:schemeClr>
                </a:solidFill>
                <a:latin typeface="微软雅黑"/>
                <a:ea typeface="微软雅黑"/>
                <a:sym typeface="+mn-ea"/>
              </a:rPr>
              <a:t>|    2026年6月</a:t>
            </a:r>
            <a:r>
              <a:rPr lang="en-US" sz="1200" b="1">
                <a:solidFill>
                  <a:schemeClr val="accent6">
                    <a:lumMod val="60000"/>
                    <a:lumOff val="40000"/>
                  </a:schemeClr>
                </a:solidFill>
                <a:latin typeface="微软雅黑"/>
                <a:ea typeface="微软雅黑"/>
                <a:sym typeface="+mn-ea"/>
              </a:rPr>
              <a:t>30</a:t>
            </a:r>
            <a:r>
              <a:rPr lang="zh-CN" altLang="en-US" sz="1200" b="1">
                <a:solidFill>
                  <a:schemeClr val="accent6">
                    <a:lumMod val="60000"/>
                    <a:lumOff val="40000"/>
                  </a:schemeClr>
                </a:solidFill>
                <a:latin typeface="微软雅黑"/>
                <a:ea typeface="微软雅黑"/>
                <a:sym typeface="+mn-ea"/>
              </a:rPr>
              <a:t>日</a:t>
            </a:r>
            <a:endParaRPr lang="zh-CN" altLang="en-US" sz="1200" b="1">
              <a:solidFill>
                <a:schemeClr val="accent6">
                  <a:lumMod val="60000"/>
                  <a:lumOff val="40000"/>
                </a:schemeClr>
              </a:solidFill>
              <a:latin typeface="微软雅黑"/>
              <a:ea typeface="微软雅黑"/>
            </a:endParaRP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chemeClr val="accent6">
                    <a:lumMod val="60000"/>
                    <a:lumOff val="40000"/>
                  </a:schemeClr>
                </a:solidFill>
                <a:latin typeface="微软雅黑"/>
                <a:ea typeface="微软雅黑"/>
              </a:rPr>
              <a:t>基于 RAG + 内核领域知识 + LLM 的自动化补丁匹配方案</a:t>
            </a:r>
            <a:endParaRPr sz="1400" b="0">
              <a:solidFill>
                <a:schemeClr val="accent6">
                  <a:lumMod val="60000"/>
                  <a:lumOff val="40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87240" y="4056380"/>
            <a:ext cx="3017520" cy="254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5029200"/>
            <a:ext cx="2103120" cy="12700"/>
          </a:xfrm>
          <a:prstGeom prst="rect">
            <a:avLst/>
          </a:prstGeom>
          <a:solidFill>
            <a:srgbClr val="404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4A5568"/>
                </a:solidFill>
                <a:latin typeface="微软雅黑"/>
                <a:ea typeface="微软雅黑"/>
                <a:sym typeface="+mn-ea"/>
              </a:rPr>
              <a:t>26</a:t>
            </a:r>
            <a:r>
              <a:rPr sz="900" b="0">
                <a:solidFill>
                  <a:srgbClr val="4A5568"/>
                </a:solidFill>
                <a:latin typeface="微软雅黑"/>
                <a:ea typeface="微软雅黑"/>
              </a:rPr>
              <a:t>/ </a:t>
            </a:r>
            <a:r>
              <a:rPr lang="en-US" sz="900">
                <a:solidFill>
                  <a:srgbClr val="4A5568"/>
                </a:solidFill>
                <a:latin typeface="微软雅黑"/>
                <a:ea typeface="微软雅黑"/>
                <a:sym typeface="+mn-ea"/>
              </a:rPr>
              <a:t>26</a:t>
            </a:r>
            <a:endParaRPr sz="900" b="0">
              <a:solidFill>
                <a:srgbClr val="4A5568"/>
              </a:solidFill>
              <a:latin typeface="微软雅黑"/>
              <a:ea typeface="微软雅黑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83665" y="2284095"/>
            <a:ext cx="10246360" cy="1627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5200"/>
              <a:t>感谢各位评审专家的宝贵时间！</a:t>
            </a:r>
            <a:endParaRPr lang="zh-CN" altLang="en-US" sz="52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65*242"/>
  <p:tag name="TABLE_ENDDRAG_RECT" val="43*125*865*242"/>
</p:tagLst>
</file>

<file path=ppt/tags/tag2.xml><?xml version="1.0" encoding="utf-8"?>
<p:tagLst xmlns:p="http://schemas.openxmlformats.org/presentationml/2006/main">
  <p:tag name="TABLE_ENDDRAG_ORIGIN_RECT" val="865*134"/>
  <p:tag name="TABLE_ENDDRAG_RECT" val="43*393*865*134"/>
</p:tagLst>
</file>

<file path=ppt/tags/tag3.xml><?xml version="1.0" encoding="utf-8"?>
<p:tagLst xmlns:p="http://schemas.openxmlformats.org/presentationml/2006/main">
  <p:tag name="TABLE_ENDDRAG_ORIGIN_RECT" val="416*97"/>
  <p:tag name="TABLE_ENDDRAG_RECT" val="505*418*416*97"/>
</p:tagLst>
</file>

<file path=ppt/tags/tag4.xml><?xml version="1.0" encoding="utf-8"?>
<p:tagLst xmlns:p="http://schemas.openxmlformats.org/presentationml/2006/main">
  <p:tag name="TABLE_ENDDRAG_ORIGIN_RECT" val="872*196"/>
  <p:tag name="TABLE_ENDDRAG_RECT" val="43*95*872*19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13547</Words>
  <Application>WPS 演示</Application>
  <PresentationFormat>On-screen Show (4:3)</PresentationFormat>
  <Paragraphs>1421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7" baseType="lpstr">
      <vt:lpstr>Arial</vt:lpstr>
      <vt:lpstr>宋体</vt:lpstr>
      <vt:lpstr>Wingdings</vt:lpstr>
      <vt:lpstr>Arial</vt:lpstr>
      <vt:lpstr>微软雅黑</vt:lpstr>
      <vt:lpstr>Wingdings</vt:lpstr>
      <vt:lpstr>Courier New</vt:lpstr>
      <vt:lpstr>Calibri</vt:lpstr>
      <vt:lpstr>Trebuchet MS</vt:lpstr>
      <vt:lpstr>Noto Color Emoji</vt:lpstr>
      <vt:lpstr>宋体</vt:lpstr>
      <vt:lpstr>Noto Serif CJK SC</vt:lpstr>
      <vt:lpstr>微软雅黑</vt:lpstr>
      <vt:lpstr>Arial Unicode MS</vt:lpstr>
      <vt:lpstr>汉仪中圆B5</vt:lpstr>
      <vt:lpstr>C059</vt:lpstr>
      <vt:lpstr>DejaVu Sans</vt:lpstr>
      <vt:lpstr>Ubuntu</vt:lpstr>
      <vt:lpstr>Noto Sans Symbols2</vt:lpstr>
      <vt:lpstr>OpenSymbol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dh</cp:lastModifiedBy>
  <cp:revision>5</cp:revision>
  <dcterms:created xsi:type="dcterms:W3CDTF">2026-06-29T14:55:18Z</dcterms:created>
  <dcterms:modified xsi:type="dcterms:W3CDTF">2026-06-29T14:55:18Z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D214A5890DA52BA7E87E426A3DE1015B_43</vt:lpwstr>
  </property>
  <property fmtid="{D5CDD505-2E9C-101B-9397-08002B2CF9AE}" pid="3" name="KSOProductBuildVer">
    <vt:lpwstr>2052-12.1.2.25882</vt:lpwstr>
  </property>
</Properties>
</file>